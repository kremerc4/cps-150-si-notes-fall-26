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4" r:id="rId11"/>
    <p:sldId id="265" r:id="rId12"/>
    <p:sldId id="266" r:id="rId13"/>
    <p:sldId id="267" r:id="rId14"/>
    <p:sldId id="268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30" autoAdjust="0"/>
  </p:normalViewPr>
  <p:slideViewPr>
    <p:cSldViewPr>
      <p:cViewPr varScale="1">
        <p:scale>
          <a:sx n="82" d="100"/>
          <a:sy n="82" d="100"/>
        </p:scale>
        <p:origin x="69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717164"/>
            <a:ext cx="5293360" cy="64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F7B7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FF7B7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555114"/>
            <a:ext cx="6249670" cy="104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CDE7FF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2991008"/>
            <a:ext cx="6351270" cy="1659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F7B72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7089" y="6322391"/>
            <a:ext cx="3105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CPS 150</a:t>
            </a:r>
            <a:r>
              <a:rPr spc="5" dirty="0"/>
              <a:t> </a:t>
            </a:r>
            <a:r>
              <a:rPr dirty="0"/>
              <a:t>Review</a:t>
            </a:r>
            <a:r>
              <a:rPr spc="10" dirty="0"/>
              <a:t> </a:t>
            </a:r>
            <a:r>
              <a:rPr dirty="0"/>
              <a:t>Session</a:t>
            </a:r>
            <a:r>
              <a:rPr spc="10" dirty="0"/>
              <a:t> </a:t>
            </a:r>
            <a:r>
              <a:rPr spc="-25" dirty="0"/>
              <a:t>#1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5012" y="3663950"/>
            <a:ext cx="2557145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Key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Concepts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Java</a:t>
            </a:r>
            <a:endParaRPr sz="21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5012" y="1650364"/>
            <a:ext cx="323342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Important</a:t>
            </a:r>
            <a:r>
              <a:rPr spc="170" dirty="0"/>
              <a:t> </a:t>
            </a:r>
            <a:r>
              <a:rPr spc="-10" dirty="0"/>
              <a:t>Ideas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000499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486274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49" y="4972049"/>
            <a:ext cx="95250" cy="95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552382"/>
            <a:ext cx="8124825" cy="263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IPO</a:t>
            </a:r>
            <a:endParaRPr sz="2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General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problem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solving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approach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computer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programming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Input</a:t>
            </a:r>
            <a:r>
              <a:rPr sz="215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What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given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user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Process</a:t>
            </a:r>
            <a:r>
              <a:rPr sz="2150" spc="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How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we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manipulate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input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get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desired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result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Output</a:t>
            </a:r>
            <a:r>
              <a:rPr sz="2150" spc="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-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Returning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result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our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user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171824"/>
            <a:ext cx="10696575" cy="600075"/>
            <a:chOff x="752474" y="31718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1765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1765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2"/>
                  </a:lnTo>
                  <a:lnTo>
                    <a:pt x="29161" y="585245"/>
                  </a:lnTo>
                  <a:lnTo>
                    <a:pt x="26142" y="583632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705349"/>
            <a:ext cx="10696575" cy="600075"/>
            <a:chOff x="752474" y="4705349"/>
            <a:chExt cx="10696575" cy="600075"/>
          </a:xfrm>
        </p:grpSpPr>
        <p:sp>
          <p:nvSpPr>
            <p:cNvPr id="6" name="object 6"/>
            <p:cNvSpPr/>
            <p:nvPr/>
          </p:nvSpPr>
          <p:spPr>
            <a:xfrm>
              <a:off x="757237" y="47101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7101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1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1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6"/>
                  </a:lnTo>
                  <a:lnTo>
                    <a:pt x="8828" y="567266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1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35012" y="1555114"/>
            <a:ext cx="291020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Java</a:t>
            </a:r>
            <a:r>
              <a:rPr spc="-90" dirty="0"/>
              <a:t> </a:t>
            </a:r>
            <a:r>
              <a:rPr spc="-10" dirty="0"/>
              <a:t>Essentials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35012" y="2466657"/>
            <a:ext cx="25552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Class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Definition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3295808"/>
            <a:ext cx="312420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class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MyClass</a:t>
            </a:r>
            <a:r>
              <a:rPr sz="1850" spc="-5" dirty="0">
                <a:solidFill>
                  <a:srgbClr val="D1A7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012" y="4000182"/>
            <a:ext cx="35204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Main</a:t>
            </a:r>
            <a:r>
              <a:rPr sz="2800" spc="4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Method</a:t>
            </a:r>
            <a:r>
              <a:rPr sz="2800" spc="4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Header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4829333"/>
            <a:ext cx="544830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static void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main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(String[]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args)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495549"/>
            <a:ext cx="10696575" cy="600075"/>
            <a:chOff x="752474" y="24955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25003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5003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42167" y="589543"/>
                  </a:lnTo>
                  <a:lnTo>
                    <a:pt x="38793" y="588872"/>
                  </a:lnTo>
                  <a:lnTo>
                    <a:pt x="35517" y="587878"/>
                  </a:lnTo>
                  <a:lnTo>
                    <a:pt x="32339" y="586562"/>
                  </a:lnTo>
                  <a:lnTo>
                    <a:pt x="29161" y="585245"/>
                  </a:lnTo>
                  <a:lnTo>
                    <a:pt x="26142" y="583631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4029074"/>
            <a:ext cx="10696575" cy="1952625"/>
            <a:chOff x="752474" y="4029074"/>
            <a:chExt cx="10696575" cy="1952625"/>
          </a:xfrm>
        </p:grpSpPr>
        <p:sp>
          <p:nvSpPr>
            <p:cNvPr id="6" name="object 6"/>
            <p:cNvSpPr/>
            <p:nvPr/>
          </p:nvSpPr>
          <p:spPr>
            <a:xfrm>
              <a:off x="757237" y="403383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10638100" y="1943099"/>
                  </a:moveTo>
                  <a:lnTo>
                    <a:pt x="48947" y="1943099"/>
                  </a:lnTo>
                  <a:lnTo>
                    <a:pt x="45540" y="1942764"/>
                  </a:lnTo>
                  <a:lnTo>
                    <a:pt x="10739" y="1922676"/>
                  </a:lnTo>
                  <a:lnTo>
                    <a:pt x="0" y="1894151"/>
                  </a:lnTo>
                  <a:lnTo>
                    <a:pt x="0" y="18907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894151"/>
                  </a:lnTo>
                  <a:lnTo>
                    <a:pt x="10669272" y="1930187"/>
                  </a:lnTo>
                  <a:lnTo>
                    <a:pt x="10641507" y="1942764"/>
                  </a:lnTo>
                  <a:lnTo>
                    <a:pt x="10638100" y="19430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403383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0" y="18907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29161" y="5303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90712"/>
                  </a:lnTo>
                  <a:lnTo>
                    <a:pt x="10687049" y="1894151"/>
                  </a:lnTo>
                  <a:lnTo>
                    <a:pt x="10686713" y="1897558"/>
                  </a:lnTo>
                  <a:lnTo>
                    <a:pt x="10666625" y="1932359"/>
                  </a:lnTo>
                  <a:lnTo>
                    <a:pt x="10638100" y="1943099"/>
                  </a:lnTo>
                  <a:lnTo>
                    <a:pt x="10634661" y="1943099"/>
                  </a:lnTo>
                  <a:lnTo>
                    <a:pt x="52387" y="1943099"/>
                  </a:lnTo>
                  <a:lnTo>
                    <a:pt x="48947" y="1943099"/>
                  </a:lnTo>
                  <a:lnTo>
                    <a:pt x="45540" y="1942764"/>
                  </a:lnTo>
                  <a:lnTo>
                    <a:pt x="10739" y="1922676"/>
                  </a:lnTo>
                  <a:lnTo>
                    <a:pt x="8828" y="1919816"/>
                  </a:lnTo>
                  <a:lnTo>
                    <a:pt x="6917" y="1916956"/>
                  </a:lnTo>
                  <a:lnTo>
                    <a:pt x="0" y="1894151"/>
                  </a:lnTo>
                  <a:lnTo>
                    <a:pt x="0" y="18907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35012" y="878839"/>
            <a:ext cx="291020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Java</a:t>
            </a:r>
            <a:r>
              <a:rPr spc="-90" dirty="0"/>
              <a:t> </a:t>
            </a:r>
            <a:r>
              <a:rPr spc="-10" dirty="0"/>
              <a:t>Essentials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35012" y="1790382"/>
            <a:ext cx="27851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Inline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Comments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2619533"/>
            <a:ext cx="260731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this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a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comment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012" y="3323907"/>
            <a:ext cx="276542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Block</a:t>
            </a:r>
            <a:r>
              <a:rPr sz="2800" spc="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Comments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4153058"/>
            <a:ext cx="1445895" cy="16598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/*</a:t>
            </a:r>
            <a:endParaRPr sz="1850">
              <a:latin typeface="Consolas"/>
              <a:cs typeface="Consolas"/>
            </a:endParaRPr>
          </a:p>
          <a:p>
            <a:pPr marL="528955" marR="391795">
              <a:lnSpc>
                <a:spcPts val="2180"/>
              </a:lnSpc>
              <a:spcBef>
                <a:spcPts val="50"/>
              </a:spcBef>
            </a:pP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this 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is</a:t>
            </a:r>
            <a:endParaRPr sz="1850">
              <a:latin typeface="Consolas"/>
              <a:cs typeface="Consolas"/>
            </a:endParaRPr>
          </a:p>
          <a:p>
            <a:pPr marL="528955">
              <a:lnSpc>
                <a:spcPts val="1970"/>
              </a:lnSpc>
            </a:pPr>
            <a:r>
              <a:rPr sz="1850" spc="-50" dirty="0">
                <a:solidFill>
                  <a:srgbClr val="9098A1"/>
                </a:solidFill>
                <a:latin typeface="Consolas"/>
                <a:cs typeface="Consolas"/>
              </a:rPr>
              <a:t>a</a:t>
            </a:r>
            <a:endParaRPr sz="1850">
              <a:latin typeface="Consolas"/>
              <a:cs typeface="Consolas"/>
            </a:endParaRPr>
          </a:p>
          <a:p>
            <a:pPr marL="528955">
              <a:lnSpc>
                <a:spcPts val="2140"/>
              </a:lnSpc>
            </a:pP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comment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*/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952874"/>
            <a:ext cx="10696575" cy="1143000"/>
            <a:chOff x="752474" y="395287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39576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1"/>
                  </a:lnTo>
                  <a:lnTo>
                    <a:pt x="0" y="1084527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7"/>
                  </a:lnTo>
                  <a:lnTo>
                    <a:pt x="10669272" y="1120563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95763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7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44881" y="1132467"/>
                  </a:lnTo>
                  <a:lnTo>
                    <a:pt x="10641507" y="1133138"/>
                  </a:lnTo>
                  <a:lnTo>
                    <a:pt x="10638100" y="113347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48947" y="1133474"/>
                  </a:lnTo>
                  <a:lnTo>
                    <a:pt x="45540" y="1133138"/>
                  </a:lnTo>
                  <a:lnTo>
                    <a:pt x="42167" y="1132467"/>
                  </a:lnTo>
                  <a:lnTo>
                    <a:pt x="38793" y="1131797"/>
                  </a:lnTo>
                  <a:lnTo>
                    <a:pt x="6917" y="1107331"/>
                  </a:lnTo>
                  <a:lnTo>
                    <a:pt x="1006" y="1091307"/>
                  </a:lnTo>
                  <a:lnTo>
                    <a:pt x="335" y="1087933"/>
                  </a:lnTo>
                  <a:lnTo>
                    <a:pt x="0" y="1084527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Print</a:t>
            </a:r>
            <a:r>
              <a:rPr spc="30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35012" y="2625725"/>
            <a:ext cx="4705350" cy="10599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How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output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information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the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user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45"/>
              </a:spcBef>
            </a:pP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Examples</a:t>
            </a:r>
            <a:endParaRPr sz="2800" dirty="0">
              <a:latin typeface="Segoe UI Semibold"/>
              <a:cs typeface="Segoe UI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6B8324-636F-79F2-F86E-A7BCA158FC81}"/>
              </a:ext>
            </a:extLst>
          </p:cNvPr>
          <p:cNvSpPr txBox="1"/>
          <p:nvPr/>
        </p:nvSpPr>
        <p:spPr>
          <a:xfrm>
            <a:off x="757237" y="4051167"/>
            <a:ext cx="6097554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070" marR="128270"/>
            <a:r>
              <a:rPr lang="en-US" sz="1850" dirty="0" err="1">
                <a:solidFill>
                  <a:srgbClr val="F0F5FB"/>
                </a:solidFill>
                <a:latin typeface="Consolas"/>
                <a:cs typeface="Consolas"/>
              </a:rPr>
              <a:t>System.out.print</a:t>
            </a:r>
            <a:r>
              <a:rPr lang="en-US"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lang="en-US" sz="1850" dirty="0">
                <a:solidFill>
                  <a:srgbClr val="A5D5FF"/>
                </a:solidFill>
                <a:latin typeface="Consolas"/>
                <a:cs typeface="Consolas"/>
              </a:rPr>
              <a:t>"Hello</a:t>
            </a:r>
            <a:r>
              <a:rPr lang="en-US"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lang="en-US" sz="1850" spc="-10" dirty="0">
                <a:solidFill>
                  <a:srgbClr val="A5D5FF"/>
                </a:solidFill>
                <a:latin typeface="Consolas"/>
                <a:cs typeface="Consolas"/>
              </a:rPr>
              <a:t>World"</a:t>
            </a:r>
            <a:r>
              <a:rPr lang="en-US" sz="1850" spc="-10" dirty="0">
                <a:solidFill>
                  <a:srgbClr val="F0F5FB"/>
                </a:solidFill>
                <a:latin typeface="Consolas"/>
                <a:cs typeface="Consolas"/>
              </a:rPr>
              <a:t>); </a:t>
            </a:r>
          </a:p>
          <a:p>
            <a:pPr marL="179070" marR="128270"/>
            <a:endParaRPr lang="en-US" sz="1850" spc="-10" dirty="0">
              <a:solidFill>
                <a:srgbClr val="F0F5FB"/>
              </a:solidFill>
              <a:latin typeface="Consolas"/>
              <a:cs typeface="Consolas"/>
            </a:endParaRPr>
          </a:p>
          <a:p>
            <a:pPr marL="179070" marR="128270"/>
            <a:r>
              <a:rPr lang="en-US" sz="1850" dirty="0" err="1">
                <a:solidFill>
                  <a:srgbClr val="F0F5FB"/>
                </a:solidFill>
                <a:latin typeface="Consolas"/>
                <a:cs typeface="Consolas"/>
              </a:rPr>
              <a:t>System.out.println</a:t>
            </a:r>
            <a:r>
              <a:rPr lang="en-US"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lang="en-US" sz="1850" dirty="0">
                <a:solidFill>
                  <a:srgbClr val="A5D5FF"/>
                </a:solidFill>
                <a:latin typeface="Consolas"/>
                <a:cs typeface="Consolas"/>
              </a:rPr>
              <a:t>"Hello</a:t>
            </a:r>
            <a:r>
              <a:rPr lang="en-US"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lang="en-US" sz="1850" spc="-10" dirty="0">
                <a:solidFill>
                  <a:srgbClr val="A5D5FF"/>
                </a:solidFill>
                <a:latin typeface="Consolas"/>
                <a:cs typeface="Consolas"/>
              </a:rPr>
              <a:t>World"</a:t>
            </a:r>
            <a:r>
              <a:rPr lang="en-US" sz="1850" spc="-10" dirty="0">
                <a:solidFill>
                  <a:srgbClr val="F0F5FB"/>
                </a:solidFill>
                <a:latin typeface="Consolas"/>
                <a:cs typeface="Consolas"/>
              </a:rPr>
              <a:t>);</a:t>
            </a:r>
            <a:endParaRPr lang="en-US"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086224"/>
            <a:ext cx="10696575" cy="866775"/>
            <a:chOff x="752474" y="408622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40909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0909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9"/>
                  </a:lnTo>
                  <a:lnTo>
                    <a:pt x="10666625" y="846509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6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5304" y="828087"/>
                  </a:lnTo>
                  <a:lnTo>
                    <a:pt x="3987" y="824909"/>
                  </a:lnTo>
                  <a:lnTo>
                    <a:pt x="2671" y="821731"/>
                  </a:lnTo>
                  <a:lnTo>
                    <a:pt x="1677" y="818455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1907539"/>
            <a:ext cx="182435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Variables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35012" y="2759075"/>
            <a:ext cx="3103880" cy="20250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How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information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20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Examples</a:t>
            </a:r>
            <a:r>
              <a:rPr sz="2800" spc="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800" spc="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Java</a:t>
            </a:r>
            <a:endParaRPr sz="2800" dirty="0">
              <a:latin typeface="Segoe UI Semibold"/>
              <a:cs typeface="Segoe UI Semibold"/>
            </a:endParaRPr>
          </a:p>
          <a:p>
            <a:pPr marL="179070" marR="75565">
              <a:lnSpc>
                <a:spcPts val="2100"/>
              </a:lnSpc>
              <a:spcBef>
                <a:spcPts val="3309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myVar1 =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5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5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myVar2 = 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4.162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552824"/>
            <a:ext cx="10696575" cy="1409700"/>
            <a:chOff x="752474" y="3552824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35575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8"/>
                  </a:lnTo>
                  <a:lnTo>
                    <a:pt x="10739" y="1379751"/>
                  </a:lnTo>
                  <a:lnTo>
                    <a:pt x="0" y="1351227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7"/>
                  </a:lnTo>
                  <a:lnTo>
                    <a:pt x="10669272" y="1387262"/>
                  </a:lnTo>
                  <a:lnTo>
                    <a:pt x="10641507" y="1399838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55758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7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32339" y="1396186"/>
                  </a:lnTo>
                  <a:lnTo>
                    <a:pt x="29161" y="1394869"/>
                  </a:lnTo>
                  <a:lnTo>
                    <a:pt x="26142" y="1393256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7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9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Arithmetic</a:t>
            </a:r>
          </a:p>
        </p:txBody>
      </p:sp>
      <p:sp>
        <p:nvSpPr>
          <p:cNvPr id="6" name="object 6"/>
          <p:cNvSpPr/>
          <p:nvPr/>
        </p:nvSpPr>
        <p:spPr>
          <a:xfrm>
            <a:off x="752474" y="2847974"/>
            <a:ext cx="923925" cy="419100"/>
          </a:xfrm>
          <a:custGeom>
            <a:avLst/>
            <a:gdLst/>
            <a:ahLst/>
            <a:cxnLst/>
            <a:rect l="l" t="t" r="r" b="b"/>
            <a:pathLst>
              <a:path w="923925" h="419100">
                <a:moveTo>
                  <a:pt x="870527" y="419099"/>
                </a:moveTo>
                <a:lnTo>
                  <a:pt x="53397" y="419099"/>
                </a:lnTo>
                <a:lnTo>
                  <a:pt x="49680" y="418733"/>
                </a:lnTo>
                <a:lnTo>
                  <a:pt x="14085" y="399707"/>
                </a:lnTo>
                <a:lnTo>
                  <a:pt x="0" y="365702"/>
                </a:lnTo>
                <a:lnTo>
                  <a:pt x="0" y="36194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870527" y="0"/>
                </a:lnTo>
                <a:lnTo>
                  <a:pt x="909839" y="19392"/>
                </a:lnTo>
                <a:lnTo>
                  <a:pt x="923924" y="53397"/>
                </a:lnTo>
                <a:lnTo>
                  <a:pt x="923924" y="365702"/>
                </a:lnTo>
                <a:lnTo>
                  <a:pt x="904532" y="405014"/>
                </a:lnTo>
                <a:lnTo>
                  <a:pt x="874244" y="418733"/>
                </a:lnTo>
                <a:lnTo>
                  <a:pt x="870527" y="419099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6747" y="2809557"/>
            <a:ext cx="1745614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dirty="0">
                <a:solidFill>
                  <a:srgbClr val="F0F5FB"/>
                </a:solidFill>
                <a:latin typeface="Consolas"/>
                <a:cs typeface="Consolas"/>
              </a:rPr>
              <a:t>Math</a:t>
            </a:r>
            <a:r>
              <a:rPr sz="2800" b="1" spc="-1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class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01700" y="3676808"/>
            <a:ext cx="2479040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Math.pow(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2.0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3.0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);</a:t>
            </a:r>
            <a:endParaRPr sz="1850" dirty="0">
              <a:latin typeface="Consolas"/>
              <a:cs typeface="Consolas"/>
            </a:endParaRPr>
          </a:p>
          <a:p>
            <a:pPr marL="12700" marR="133985">
              <a:lnSpc>
                <a:spcPct val="96300"/>
              </a:lnSpc>
              <a:spcBef>
                <a:spcPts val="2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Math.sqrt(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4.0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); Math.round(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5.123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); Math.random();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B1E3-0CF9-FD4E-176E-7417722F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5FD03A1-8C39-1EF2-FDC8-DFB997DE83F1}"/>
              </a:ext>
            </a:extLst>
          </p:cNvPr>
          <p:cNvGrpSpPr/>
          <p:nvPr/>
        </p:nvGrpSpPr>
        <p:grpSpPr>
          <a:xfrm>
            <a:off x="752474" y="2590799"/>
            <a:ext cx="10696575" cy="3295650"/>
            <a:chOff x="752474" y="2590799"/>
            <a:chExt cx="10696575" cy="32956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CEB8DE3-215E-81F0-655D-017AA56BD6DF}"/>
                </a:ext>
              </a:extLst>
            </p:cNvPr>
            <p:cNvSpPr/>
            <p:nvPr/>
          </p:nvSpPr>
          <p:spPr>
            <a:xfrm>
              <a:off x="757237" y="259556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10638100" y="3286124"/>
                  </a:moveTo>
                  <a:lnTo>
                    <a:pt x="48947" y="3286124"/>
                  </a:lnTo>
                  <a:lnTo>
                    <a:pt x="45540" y="3285788"/>
                  </a:lnTo>
                  <a:lnTo>
                    <a:pt x="10739" y="3265701"/>
                  </a:lnTo>
                  <a:lnTo>
                    <a:pt x="0" y="3237176"/>
                  </a:lnTo>
                  <a:lnTo>
                    <a:pt x="0" y="3233736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3237176"/>
                  </a:lnTo>
                  <a:lnTo>
                    <a:pt x="10669272" y="3273211"/>
                  </a:lnTo>
                  <a:lnTo>
                    <a:pt x="10641507" y="3285788"/>
                  </a:lnTo>
                  <a:lnTo>
                    <a:pt x="10638100" y="32861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77D36E4-EB27-6D42-D2D6-5D3C08DB36A0}"/>
                </a:ext>
              </a:extLst>
            </p:cNvPr>
            <p:cNvSpPr/>
            <p:nvPr/>
          </p:nvSpPr>
          <p:spPr>
            <a:xfrm>
              <a:off x="757237" y="259556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0" y="3233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1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233737"/>
                  </a:lnTo>
                  <a:lnTo>
                    <a:pt x="10687049" y="3237177"/>
                  </a:lnTo>
                  <a:lnTo>
                    <a:pt x="10686713" y="3240583"/>
                  </a:lnTo>
                  <a:lnTo>
                    <a:pt x="10666625" y="3275384"/>
                  </a:lnTo>
                  <a:lnTo>
                    <a:pt x="10638100" y="3286124"/>
                  </a:lnTo>
                  <a:lnTo>
                    <a:pt x="10634661" y="3286124"/>
                  </a:lnTo>
                  <a:lnTo>
                    <a:pt x="52387" y="3286124"/>
                  </a:lnTo>
                  <a:lnTo>
                    <a:pt x="48947" y="3286124"/>
                  </a:lnTo>
                  <a:lnTo>
                    <a:pt x="45540" y="3285789"/>
                  </a:lnTo>
                  <a:lnTo>
                    <a:pt x="10739" y="3265701"/>
                  </a:lnTo>
                  <a:lnTo>
                    <a:pt x="8828" y="3262841"/>
                  </a:lnTo>
                  <a:lnTo>
                    <a:pt x="6917" y="3259981"/>
                  </a:lnTo>
                  <a:lnTo>
                    <a:pt x="1006" y="3243957"/>
                  </a:lnTo>
                  <a:lnTo>
                    <a:pt x="335" y="3240583"/>
                  </a:lnTo>
                  <a:lnTo>
                    <a:pt x="0" y="3237177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C67467DA-6431-A422-A7E9-79AF0242AB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12" y="974089"/>
            <a:ext cx="212788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Arithmetic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C49BA0D-2A25-2820-DE74-EA726A8D89E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A523A73-0559-21D2-70A1-6B2A28B9FF42}"/>
              </a:ext>
            </a:extLst>
          </p:cNvPr>
          <p:cNvSpPr txBox="1"/>
          <p:nvPr/>
        </p:nvSpPr>
        <p:spPr>
          <a:xfrm>
            <a:off x="735012" y="1885632"/>
            <a:ext cx="132588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Division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5D522E-9D26-0D93-2121-4E6A6A12A169}"/>
              </a:ext>
            </a:extLst>
          </p:cNvPr>
          <p:cNvSpPr txBox="1"/>
          <p:nvPr/>
        </p:nvSpPr>
        <p:spPr>
          <a:xfrm>
            <a:off x="901700" y="2714783"/>
            <a:ext cx="6223000" cy="30412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int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vs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double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division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 err="1">
                <a:solidFill>
                  <a:srgbClr val="78BFFF"/>
                </a:solidFill>
                <a:latin typeface="Consolas"/>
                <a:cs typeface="Consolas"/>
              </a:rPr>
              <a:t>divInt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endParaRPr sz="1850" dirty="0">
              <a:latin typeface="Consolas"/>
              <a:cs typeface="Consolas"/>
            </a:endParaRPr>
          </a:p>
          <a:p>
            <a:pPr marL="12700" lvl="1">
              <a:lnSpc>
                <a:spcPts val="2195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divDouble = 5.0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2.0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  <a:spcBef>
                <a:spcPts val="1980"/>
              </a:spcBef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divide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by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zero</a:t>
            </a:r>
            <a:endParaRPr sz="1850" dirty="0">
              <a:latin typeface="Consolas"/>
              <a:cs typeface="Consolas"/>
            </a:endParaRPr>
          </a:p>
          <a:p>
            <a:pPr marL="12700" marR="1037590">
              <a:lnSpc>
                <a:spcPts val="2100"/>
              </a:lnSpc>
              <a:spcBef>
                <a:spcPts val="1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divZero1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endParaRPr lang="en-US" sz="1850" spc="-5" dirty="0">
              <a:solidFill>
                <a:srgbClr val="F0F5FB"/>
              </a:solidFill>
              <a:latin typeface="Consolas"/>
              <a:cs typeface="Consolas"/>
            </a:endParaRPr>
          </a:p>
          <a:p>
            <a:pPr marL="12700" marR="1037590">
              <a:lnSpc>
                <a:spcPts val="2100"/>
              </a:lnSpc>
              <a:spcBef>
                <a:spcPts val="1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divZero2 = 5.0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0.0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Consolas"/>
              <a:cs typeface="Consolas"/>
            </a:endParaRPr>
          </a:p>
          <a:p>
            <a:pPr marL="12700" marR="1425575">
              <a:lnSpc>
                <a:spcPts val="2100"/>
              </a:lnSpc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long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division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(division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vs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modulo)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myNumQuotient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05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myNumRemainder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%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endParaRPr sz="185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0742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0AF8-2120-FAE8-F6C6-6A38D229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45F906E-DC58-67F0-A8D6-B87767CB408E}"/>
              </a:ext>
            </a:extLst>
          </p:cNvPr>
          <p:cNvGrpSpPr/>
          <p:nvPr/>
        </p:nvGrpSpPr>
        <p:grpSpPr>
          <a:xfrm>
            <a:off x="752474" y="2590799"/>
            <a:ext cx="10696575" cy="3295650"/>
            <a:chOff x="752474" y="2590799"/>
            <a:chExt cx="10696575" cy="32956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A6BE6EF-4E2A-2D4F-4E07-6913AE4CCD0C}"/>
                </a:ext>
              </a:extLst>
            </p:cNvPr>
            <p:cNvSpPr/>
            <p:nvPr/>
          </p:nvSpPr>
          <p:spPr>
            <a:xfrm>
              <a:off x="757237" y="259556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10638100" y="3286124"/>
                  </a:moveTo>
                  <a:lnTo>
                    <a:pt x="48947" y="3286124"/>
                  </a:lnTo>
                  <a:lnTo>
                    <a:pt x="45540" y="3285788"/>
                  </a:lnTo>
                  <a:lnTo>
                    <a:pt x="10739" y="3265701"/>
                  </a:lnTo>
                  <a:lnTo>
                    <a:pt x="0" y="3237176"/>
                  </a:lnTo>
                  <a:lnTo>
                    <a:pt x="0" y="3233736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3237176"/>
                  </a:lnTo>
                  <a:lnTo>
                    <a:pt x="10669272" y="3273211"/>
                  </a:lnTo>
                  <a:lnTo>
                    <a:pt x="10641507" y="3285788"/>
                  </a:lnTo>
                  <a:lnTo>
                    <a:pt x="10638100" y="328612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1123022-1F6D-3678-ECA1-2C974C20B29B}"/>
                </a:ext>
              </a:extLst>
            </p:cNvPr>
            <p:cNvSpPr/>
            <p:nvPr/>
          </p:nvSpPr>
          <p:spPr>
            <a:xfrm>
              <a:off x="757237" y="2595562"/>
              <a:ext cx="10687050" cy="3286125"/>
            </a:xfrm>
            <a:custGeom>
              <a:avLst/>
              <a:gdLst/>
              <a:ahLst/>
              <a:cxnLst/>
              <a:rect l="l" t="t" r="r" b="b"/>
              <a:pathLst>
                <a:path w="10687050" h="3286125">
                  <a:moveTo>
                    <a:pt x="0" y="32337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1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233737"/>
                  </a:lnTo>
                  <a:lnTo>
                    <a:pt x="10687049" y="3237177"/>
                  </a:lnTo>
                  <a:lnTo>
                    <a:pt x="10686713" y="3240583"/>
                  </a:lnTo>
                  <a:lnTo>
                    <a:pt x="10666625" y="3275384"/>
                  </a:lnTo>
                  <a:lnTo>
                    <a:pt x="10638100" y="3286124"/>
                  </a:lnTo>
                  <a:lnTo>
                    <a:pt x="10634661" y="3286124"/>
                  </a:lnTo>
                  <a:lnTo>
                    <a:pt x="52387" y="3286124"/>
                  </a:lnTo>
                  <a:lnTo>
                    <a:pt x="48947" y="3286124"/>
                  </a:lnTo>
                  <a:lnTo>
                    <a:pt x="45540" y="3285789"/>
                  </a:lnTo>
                  <a:lnTo>
                    <a:pt x="10739" y="3265701"/>
                  </a:lnTo>
                  <a:lnTo>
                    <a:pt x="8828" y="3262841"/>
                  </a:lnTo>
                  <a:lnTo>
                    <a:pt x="6917" y="3259981"/>
                  </a:lnTo>
                  <a:lnTo>
                    <a:pt x="1006" y="3243957"/>
                  </a:lnTo>
                  <a:lnTo>
                    <a:pt x="335" y="3240583"/>
                  </a:lnTo>
                  <a:lnTo>
                    <a:pt x="0" y="3237177"/>
                  </a:lnTo>
                  <a:lnTo>
                    <a:pt x="0" y="323373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51A8B4EA-B5A5-DAE0-7A26-36564D5C6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12" y="974089"/>
            <a:ext cx="212788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Arithmetic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3AEFB65-F562-79A5-9048-34FD6DDE2B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70EB6E5-2B01-6D81-15D0-33B7E6D65759}"/>
              </a:ext>
            </a:extLst>
          </p:cNvPr>
          <p:cNvSpPr txBox="1"/>
          <p:nvPr/>
        </p:nvSpPr>
        <p:spPr>
          <a:xfrm>
            <a:off x="735012" y="1885632"/>
            <a:ext cx="132588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Division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E5CB21A-2E76-5BC6-5C20-82074171AB8E}"/>
              </a:ext>
            </a:extLst>
          </p:cNvPr>
          <p:cNvSpPr txBox="1"/>
          <p:nvPr/>
        </p:nvSpPr>
        <p:spPr>
          <a:xfrm>
            <a:off x="901700" y="2714783"/>
            <a:ext cx="6223000" cy="30412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int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vs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double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division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4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 err="1">
                <a:solidFill>
                  <a:srgbClr val="78BFFF"/>
                </a:solidFill>
                <a:latin typeface="Consolas"/>
                <a:cs typeface="Consolas"/>
              </a:rPr>
              <a:t>divInt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5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2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=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9098A1"/>
                </a:solidFill>
                <a:latin typeface="Consolas"/>
                <a:cs typeface="Consolas"/>
              </a:rPr>
              <a:t>2</a:t>
            </a:r>
            <a:endParaRPr sz="1850" dirty="0">
              <a:latin typeface="Consolas"/>
              <a:cs typeface="Consolas"/>
            </a:endParaRPr>
          </a:p>
          <a:p>
            <a:pPr marL="12700" lvl="1">
              <a:lnSpc>
                <a:spcPts val="2195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divDouble = 5.0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2.0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5.0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2.0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=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9098A1"/>
                </a:solidFill>
                <a:latin typeface="Consolas"/>
                <a:cs typeface="Consolas"/>
              </a:rPr>
              <a:t>2.5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  <a:spcBef>
                <a:spcPts val="1980"/>
              </a:spcBef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divide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by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9098A1"/>
                </a:solidFill>
                <a:latin typeface="Consolas"/>
                <a:cs typeface="Consolas"/>
              </a:rPr>
              <a:t>zero</a:t>
            </a:r>
            <a:endParaRPr sz="1850" dirty="0">
              <a:latin typeface="Consolas"/>
              <a:cs typeface="Consolas"/>
            </a:endParaRPr>
          </a:p>
          <a:p>
            <a:pPr marL="12700" marR="1037590">
              <a:lnSpc>
                <a:spcPts val="2100"/>
              </a:lnSpc>
              <a:spcBef>
                <a:spcPts val="15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divZero1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Runtime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Error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double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divZero2 = 5.0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0.0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Infinity</a:t>
            </a:r>
            <a:endParaRPr sz="18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 dirty="0">
              <a:latin typeface="Consolas"/>
              <a:cs typeface="Consolas"/>
            </a:endParaRPr>
          </a:p>
          <a:p>
            <a:pPr marL="12700" marR="1425575">
              <a:lnSpc>
                <a:spcPts val="2100"/>
              </a:lnSpc>
            </a:pP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long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division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(division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vs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9098A1"/>
                </a:solidFill>
                <a:latin typeface="Consolas"/>
                <a:cs typeface="Consolas"/>
              </a:rPr>
              <a:t>modulo)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myNumQuotient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/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9098A1"/>
                </a:solidFill>
                <a:latin typeface="Consolas"/>
                <a:cs typeface="Consolas"/>
              </a:rPr>
              <a:t>2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050"/>
              </a:lnSpc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myNumRemainder = 5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%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;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9098A1"/>
                </a:solidFill>
                <a:latin typeface="Consolas"/>
                <a:cs typeface="Consolas"/>
              </a:rPr>
              <a:t>//</a:t>
            </a:r>
            <a:r>
              <a:rPr sz="1850" spc="-5" dirty="0">
                <a:solidFill>
                  <a:srgbClr val="9098A1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9098A1"/>
                </a:solidFill>
                <a:latin typeface="Consolas"/>
                <a:cs typeface="Consolas"/>
              </a:rPr>
              <a:t>1</a:t>
            </a:r>
            <a:endParaRPr sz="185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9968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543299"/>
            <a:ext cx="10696575" cy="600075"/>
            <a:chOff x="752474" y="35432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548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5480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15343" y="575205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Scanner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01700" y="3667283"/>
            <a:ext cx="557720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Scanner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myScanner =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new </a:t>
            </a: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Scanner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(System.in);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1657349"/>
            <a:ext cx="10696575" cy="4381500"/>
            <a:chOff x="752474" y="1657349"/>
            <a:chExt cx="10696575" cy="4381500"/>
          </a:xfrm>
        </p:grpSpPr>
        <p:sp>
          <p:nvSpPr>
            <p:cNvPr id="3" name="object 3"/>
            <p:cNvSpPr/>
            <p:nvPr/>
          </p:nvSpPr>
          <p:spPr>
            <a:xfrm>
              <a:off x="757237" y="1662112"/>
              <a:ext cx="10687050" cy="4371975"/>
            </a:xfrm>
            <a:custGeom>
              <a:avLst/>
              <a:gdLst/>
              <a:ahLst/>
              <a:cxnLst/>
              <a:rect l="l" t="t" r="r" b="b"/>
              <a:pathLst>
                <a:path w="10687050" h="4371975">
                  <a:moveTo>
                    <a:pt x="10638100" y="4371974"/>
                  </a:moveTo>
                  <a:lnTo>
                    <a:pt x="48947" y="4371974"/>
                  </a:lnTo>
                  <a:lnTo>
                    <a:pt x="45540" y="4371638"/>
                  </a:lnTo>
                  <a:lnTo>
                    <a:pt x="10739" y="4351550"/>
                  </a:lnTo>
                  <a:lnTo>
                    <a:pt x="0" y="4323027"/>
                  </a:lnTo>
                  <a:lnTo>
                    <a:pt x="0" y="43195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323027"/>
                  </a:lnTo>
                  <a:lnTo>
                    <a:pt x="10669272" y="4359062"/>
                  </a:lnTo>
                  <a:lnTo>
                    <a:pt x="10641507" y="4371638"/>
                  </a:lnTo>
                  <a:lnTo>
                    <a:pt x="10638100" y="43719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1662112"/>
              <a:ext cx="10687050" cy="4371975"/>
            </a:xfrm>
            <a:custGeom>
              <a:avLst/>
              <a:gdLst/>
              <a:ahLst/>
              <a:cxnLst/>
              <a:rect l="l" t="t" r="r" b="b"/>
              <a:pathLst>
                <a:path w="10687050" h="4371975">
                  <a:moveTo>
                    <a:pt x="0" y="43195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319587"/>
                  </a:lnTo>
                  <a:lnTo>
                    <a:pt x="10687049" y="4323027"/>
                  </a:lnTo>
                  <a:lnTo>
                    <a:pt x="10686713" y="4326433"/>
                  </a:lnTo>
                  <a:lnTo>
                    <a:pt x="10666625" y="4361234"/>
                  </a:lnTo>
                  <a:lnTo>
                    <a:pt x="10644881" y="4370967"/>
                  </a:lnTo>
                  <a:lnTo>
                    <a:pt x="10641507" y="4371638"/>
                  </a:lnTo>
                  <a:lnTo>
                    <a:pt x="10638100" y="4371974"/>
                  </a:lnTo>
                  <a:lnTo>
                    <a:pt x="10634661" y="4371974"/>
                  </a:lnTo>
                  <a:lnTo>
                    <a:pt x="52387" y="4371974"/>
                  </a:lnTo>
                  <a:lnTo>
                    <a:pt x="48947" y="4371974"/>
                  </a:lnTo>
                  <a:lnTo>
                    <a:pt x="45540" y="4371638"/>
                  </a:lnTo>
                  <a:lnTo>
                    <a:pt x="42167" y="4370967"/>
                  </a:lnTo>
                  <a:lnTo>
                    <a:pt x="38793" y="4370296"/>
                  </a:lnTo>
                  <a:lnTo>
                    <a:pt x="35517" y="4369302"/>
                  </a:lnTo>
                  <a:lnTo>
                    <a:pt x="32339" y="4367985"/>
                  </a:lnTo>
                  <a:lnTo>
                    <a:pt x="29161" y="4366669"/>
                  </a:lnTo>
                  <a:lnTo>
                    <a:pt x="26142" y="4365055"/>
                  </a:lnTo>
                  <a:lnTo>
                    <a:pt x="23282" y="4363144"/>
                  </a:lnTo>
                  <a:lnTo>
                    <a:pt x="20422" y="4361234"/>
                  </a:lnTo>
                  <a:lnTo>
                    <a:pt x="1006" y="4329806"/>
                  </a:lnTo>
                  <a:lnTo>
                    <a:pt x="335" y="4326433"/>
                  </a:lnTo>
                  <a:lnTo>
                    <a:pt x="0" y="4323027"/>
                  </a:lnTo>
                  <a:lnTo>
                    <a:pt x="0" y="43195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821689"/>
            <a:ext cx="446278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Putting</a:t>
            </a:r>
            <a:r>
              <a:rPr spc="30" dirty="0"/>
              <a:t> </a:t>
            </a:r>
            <a:r>
              <a:rPr dirty="0"/>
              <a:t>It</a:t>
            </a:r>
            <a:r>
              <a:rPr spc="30" dirty="0"/>
              <a:t> </a:t>
            </a:r>
            <a:r>
              <a:rPr dirty="0"/>
              <a:t>All</a:t>
            </a:r>
            <a:r>
              <a:rPr spc="25" dirty="0"/>
              <a:t> </a:t>
            </a:r>
            <a:r>
              <a:rPr spc="-10" dirty="0"/>
              <a:t>Together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01700" y="1781333"/>
            <a:ext cx="8674735" cy="4088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import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java.util.Scanner;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  <a:spcBef>
                <a:spcPts val="205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class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Demo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</a:t>
            </a:r>
            <a:endParaRPr sz="1850">
              <a:latin typeface="Consolas"/>
              <a:cs typeface="Consolas"/>
            </a:endParaRPr>
          </a:p>
          <a:p>
            <a:pPr marL="1045210" marR="2585720" indent="-516890">
              <a:lnSpc>
                <a:spcPts val="2100"/>
              </a:lnSpc>
              <a:spcBef>
                <a:spcPts val="11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public static void </a:t>
            </a:r>
            <a:r>
              <a:rPr sz="1850" dirty="0">
                <a:solidFill>
                  <a:srgbClr val="D1A7FF"/>
                </a:solidFill>
                <a:latin typeface="Consolas"/>
                <a:cs typeface="Consolas"/>
              </a:rPr>
              <a:t>main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(String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args[])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{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Scanner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input =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new </a:t>
            </a:r>
            <a:r>
              <a:rPr sz="1850" spc="-10" dirty="0">
                <a:solidFill>
                  <a:srgbClr val="D1A7FF"/>
                </a:solidFill>
                <a:latin typeface="Consolas"/>
                <a:cs typeface="Consolas"/>
              </a:rPr>
              <a:t>Scanner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(System.in);</a:t>
            </a:r>
            <a:endParaRPr sz="1850">
              <a:latin typeface="Consolas"/>
              <a:cs typeface="Consolas"/>
            </a:endParaRPr>
          </a:p>
          <a:p>
            <a:pPr marL="1045210" marR="2199005">
              <a:lnSpc>
                <a:spcPct val="95700"/>
              </a:lnSpc>
              <a:spcBef>
                <a:spcPts val="210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System.out.print(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"Enter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first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number: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);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num1 =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input.nextInt();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System.out.print(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"Enter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second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number: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);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num2 =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input.nextInt();</a:t>
            </a:r>
            <a:endParaRPr sz="1850">
              <a:latin typeface="Consolas"/>
              <a:cs typeface="Consolas"/>
            </a:endParaRPr>
          </a:p>
          <a:p>
            <a:pPr marL="1045210">
              <a:lnSpc>
                <a:spcPts val="2160"/>
              </a:lnSpc>
              <a:spcBef>
                <a:spcPts val="205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int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sum =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num1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num2;</a:t>
            </a:r>
            <a:endParaRPr sz="1850">
              <a:latin typeface="Consolas"/>
              <a:cs typeface="Consolas"/>
            </a:endParaRPr>
          </a:p>
          <a:p>
            <a:pPr marL="1045210">
              <a:lnSpc>
                <a:spcPts val="21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System.out.println(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"The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sum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of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the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two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numbers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is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sum);</a:t>
            </a:r>
            <a:endParaRPr sz="1850">
              <a:latin typeface="Consolas"/>
              <a:cs typeface="Consolas"/>
            </a:endParaRPr>
          </a:p>
          <a:p>
            <a:pPr marL="528955">
              <a:lnSpc>
                <a:spcPts val="2140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200"/>
              </a:lnSpc>
            </a:pP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}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009899"/>
            <a:ext cx="10696575" cy="1676400"/>
            <a:chOff x="752474" y="3009899"/>
            <a:chExt cx="10696575" cy="1676400"/>
          </a:xfrm>
        </p:grpSpPr>
        <p:sp>
          <p:nvSpPr>
            <p:cNvPr id="3" name="object 3"/>
            <p:cNvSpPr/>
            <p:nvPr/>
          </p:nvSpPr>
          <p:spPr>
            <a:xfrm>
              <a:off x="757237" y="3014662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10638100" y="1666874"/>
                  </a:moveTo>
                  <a:lnTo>
                    <a:pt x="48947" y="1666874"/>
                  </a:lnTo>
                  <a:lnTo>
                    <a:pt x="45540" y="1666538"/>
                  </a:lnTo>
                  <a:lnTo>
                    <a:pt x="10739" y="1646452"/>
                  </a:lnTo>
                  <a:lnTo>
                    <a:pt x="0" y="1617926"/>
                  </a:lnTo>
                  <a:lnTo>
                    <a:pt x="0" y="1614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617926"/>
                  </a:lnTo>
                  <a:lnTo>
                    <a:pt x="10669272" y="1653962"/>
                  </a:lnTo>
                  <a:lnTo>
                    <a:pt x="10641507" y="1666538"/>
                  </a:lnTo>
                  <a:lnTo>
                    <a:pt x="10638100" y="16668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14662"/>
              <a:ext cx="10687050" cy="1666875"/>
            </a:xfrm>
            <a:custGeom>
              <a:avLst/>
              <a:gdLst/>
              <a:ahLst/>
              <a:cxnLst/>
              <a:rect l="l" t="t" r="r" b="b"/>
              <a:pathLst>
                <a:path w="10687050" h="1666875">
                  <a:moveTo>
                    <a:pt x="0" y="1614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614487"/>
                  </a:lnTo>
                  <a:lnTo>
                    <a:pt x="10687049" y="1617926"/>
                  </a:lnTo>
                  <a:lnTo>
                    <a:pt x="10686713" y="1621333"/>
                  </a:lnTo>
                  <a:lnTo>
                    <a:pt x="10666625" y="1656134"/>
                  </a:lnTo>
                  <a:lnTo>
                    <a:pt x="10634661" y="1666874"/>
                  </a:lnTo>
                  <a:lnTo>
                    <a:pt x="52387" y="1666874"/>
                  </a:lnTo>
                  <a:lnTo>
                    <a:pt x="15343" y="1651530"/>
                  </a:lnTo>
                  <a:lnTo>
                    <a:pt x="12911" y="1649098"/>
                  </a:lnTo>
                  <a:lnTo>
                    <a:pt x="10739" y="1646452"/>
                  </a:lnTo>
                  <a:lnTo>
                    <a:pt x="8828" y="1643591"/>
                  </a:lnTo>
                  <a:lnTo>
                    <a:pt x="6917" y="1640731"/>
                  </a:lnTo>
                  <a:lnTo>
                    <a:pt x="0" y="1617926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35012" y="2174239"/>
            <a:ext cx="624967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What's</a:t>
            </a:r>
            <a:r>
              <a:rPr spc="-30" dirty="0"/>
              <a:t> </a:t>
            </a:r>
            <a:r>
              <a:rPr dirty="0"/>
              <a:t>Wrong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Code?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901700" y="2991008"/>
            <a:ext cx="6351270" cy="1527726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>
                <a:solidFill>
                  <a:srgbClr val="F0F5FB"/>
                </a:solidFill>
              </a:rPr>
              <a:t>Public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Class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myClass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spc="-50" dirty="0">
                <a:solidFill>
                  <a:srgbClr val="F0F5FB"/>
                </a:solidFill>
              </a:rPr>
              <a:t>{</a:t>
            </a:r>
          </a:p>
          <a:p>
            <a:pPr marL="1045210" marR="5080" indent="-516890">
              <a:lnSpc>
                <a:spcPct val="96300"/>
              </a:lnSpc>
              <a:spcBef>
                <a:spcPts val="25"/>
              </a:spcBef>
            </a:pPr>
            <a:r>
              <a:rPr dirty="0"/>
              <a:t>public static void </a:t>
            </a:r>
            <a:r>
              <a:rPr dirty="0">
                <a:solidFill>
                  <a:srgbClr val="D1A7FF"/>
                </a:solidFill>
              </a:rPr>
              <a:t>main</a:t>
            </a:r>
            <a:r>
              <a:rPr dirty="0">
                <a:solidFill>
                  <a:srgbClr val="F0F5FB"/>
                </a:solidFill>
              </a:rPr>
              <a:t>(string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args)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spc="-50" dirty="0">
                <a:solidFill>
                  <a:srgbClr val="F0F5FB"/>
                </a:solidFill>
              </a:rPr>
              <a:t>{ </a:t>
            </a:r>
            <a:r>
              <a:rPr spc="-10" dirty="0">
                <a:solidFill>
                  <a:srgbClr val="F0F5FB"/>
                </a:solidFill>
              </a:rPr>
              <a:t>system.out.println(Hello) </a:t>
            </a:r>
            <a:r>
              <a:rPr dirty="0">
                <a:solidFill>
                  <a:srgbClr val="F0F5FB"/>
                </a:solidFill>
              </a:rPr>
              <a:t>system.out.println(Welcome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to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CPS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spc="-20" dirty="0">
                <a:solidFill>
                  <a:srgbClr val="F0F5FB"/>
                </a:solidFill>
              </a:rPr>
              <a:t>150)</a:t>
            </a:r>
          </a:p>
          <a:p>
            <a:pPr marL="12700">
              <a:lnSpc>
                <a:spcPts val="2100"/>
              </a:lnSpc>
            </a:pPr>
            <a:r>
              <a:rPr spc="-50" dirty="0">
                <a:solidFill>
                  <a:srgbClr val="F0F5FB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867024"/>
            <a:ext cx="10696575" cy="1952625"/>
            <a:chOff x="752474" y="2867024"/>
            <a:chExt cx="10696575" cy="1952625"/>
          </a:xfrm>
        </p:grpSpPr>
        <p:sp>
          <p:nvSpPr>
            <p:cNvPr id="3" name="object 3"/>
            <p:cNvSpPr/>
            <p:nvPr/>
          </p:nvSpPr>
          <p:spPr>
            <a:xfrm>
              <a:off x="757237" y="287178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10638100" y="1943099"/>
                  </a:moveTo>
                  <a:lnTo>
                    <a:pt x="48947" y="1943099"/>
                  </a:lnTo>
                  <a:lnTo>
                    <a:pt x="45540" y="1942764"/>
                  </a:lnTo>
                  <a:lnTo>
                    <a:pt x="10739" y="1922677"/>
                  </a:lnTo>
                  <a:lnTo>
                    <a:pt x="0" y="1894151"/>
                  </a:lnTo>
                  <a:lnTo>
                    <a:pt x="0" y="18907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894151"/>
                  </a:lnTo>
                  <a:lnTo>
                    <a:pt x="10669272" y="1930187"/>
                  </a:lnTo>
                  <a:lnTo>
                    <a:pt x="10641507" y="1942764"/>
                  </a:lnTo>
                  <a:lnTo>
                    <a:pt x="10638100" y="194309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871787"/>
              <a:ext cx="10687050" cy="1943100"/>
            </a:xfrm>
            <a:custGeom>
              <a:avLst/>
              <a:gdLst/>
              <a:ahLst/>
              <a:cxnLst/>
              <a:rect l="l" t="t" r="r" b="b"/>
              <a:pathLst>
                <a:path w="10687050" h="1943100">
                  <a:moveTo>
                    <a:pt x="0" y="18907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90712"/>
                  </a:lnTo>
                  <a:lnTo>
                    <a:pt x="10687049" y="1894151"/>
                  </a:lnTo>
                  <a:lnTo>
                    <a:pt x="10686713" y="1897558"/>
                  </a:lnTo>
                  <a:lnTo>
                    <a:pt x="10666625" y="1932359"/>
                  </a:lnTo>
                  <a:lnTo>
                    <a:pt x="10638100" y="1943099"/>
                  </a:lnTo>
                  <a:lnTo>
                    <a:pt x="10634661" y="1943099"/>
                  </a:lnTo>
                  <a:lnTo>
                    <a:pt x="52387" y="1943099"/>
                  </a:lnTo>
                  <a:lnTo>
                    <a:pt x="48947" y="1943099"/>
                  </a:lnTo>
                  <a:lnTo>
                    <a:pt x="45540" y="1942764"/>
                  </a:lnTo>
                  <a:lnTo>
                    <a:pt x="23282" y="1934270"/>
                  </a:lnTo>
                  <a:lnTo>
                    <a:pt x="20422" y="1932359"/>
                  </a:lnTo>
                  <a:lnTo>
                    <a:pt x="8828" y="1919816"/>
                  </a:lnTo>
                  <a:lnTo>
                    <a:pt x="6917" y="1916956"/>
                  </a:lnTo>
                  <a:lnTo>
                    <a:pt x="1006" y="1900932"/>
                  </a:lnTo>
                  <a:lnTo>
                    <a:pt x="335" y="1897558"/>
                  </a:lnTo>
                  <a:lnTo>
                    <a:pt x="0" y="1894151"/>
                  </a:lnTo>
                  <a:lnTo>
                    <a:pt x="0" y="189071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22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What's</a:t>
            </a:r>
            <a:r>
              <a:rPr spc="-30" dirty="0"/>
              <a:t> </a:t>
            </a:r>
            <a:r>
              <a:rPr dirty="0"/>
              <a:t>Wrong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Code?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/>
              <a:t>public class </a:t>
            </a:r>
            <a:r>
              <a:rPr dirty="0">
                <a:solidFill>
                  <a:srgbClr val="D1A7FF"/>
                </a:solidFill>
              </a:rPr>
              <a:t>myClass</a:t>
            </a:r>
            <a:r>
              <a:rPr spc="-5" dirty="0">
                <a:solidFill>
                  <a:srgbClr val="D1A7FF"/>
                </a:solidFill>
              </a:rPr>
              <a:t> </a:t>
            </a:r>
            <a:r>
              <a:rPr spc="-50" dirty="0">
                <a:solidFill>
                  <a:srgbClr val="F0F5FB"/>
                </a:solidFill>
              </a:rPr>
              <a:t>{</a:t>
            </a:r>
          </a:p>
          <a:p>
            <a:pPr marL="1045210" marR="5080" indent="-516890">
              <a:lnSpc>
                <a:spcPct val="96300"/>
              </a:lnSpc>
              <a:spcBef>
                <a:spcPts val="25"/>
              </a:spcBef>
            </a:pPr>
            <a:r>
              <a:rPr dirty="0"/>
              <a:t>public static void </a:t>
            </a:r>
            <a:r>
              <a:rPr dirty="0">
                <a:solidFill>
                  <a:srgbClr val="D1A7FF"/>
                </a:solidFill>
              </a:rPr>
              <a:t>main</a:t>
            </a:r>
            <a:r>
              <a:rPr dirty="0">
                <a:solidFill>
                  <a:srgbClr val="F0F5FB"/>
                </a:solidFill>
              </a:rPr>
              <a:t>(String[]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dirty="0">
                <a:solidFill>
                  <a:srgbClr val="F0F5FB"/>
                </a:solidFill>
              </a:rPr>
              <a:t>args)</a:t>
            </a:r>
            <a:r>
              <a:rPr spc="-5" dirty="0">
                <a:solidFill>
                  <a:srgbClr val="F0F5FB"/>
                </a:solidFill>
              </a:rPr>
              <a:t> </a:t>
            </a:r>
            <a:r>
              <a:rPr spc="-50" dirty="0">
                <a:solidFill>
                  <a:srgbClr val="F0F5FB"/>
                </a:solidFill>
              </a:rPr>
              <a:t>{ </a:t>
            </a:r>
            <a:r>
              <a:rPr spc="-10" dirty="0">
                <a:solidFill>
                  <a:srgbClr val="F0F5FB"/>
                </a:solidFill>
              </a:rPr>
              <a:t>System.out.println(</a:t>
            </a:r>
            <a:r>
              <a:rPr spc="-10" dirty="0">
                <a:solidFill>
                  <a:srgbClr val="A5D5FF"/>
                </a:solidFill>
              </a:rPr>
              <a:t>"Hello"</a:t>
            </a:r>
            <a:r>
              <a:rPr spc="-10" dirty="0">
                <a:solidFill>
                  <a:srgbClr val="F0F5FB"/>
                </a:solidFill>
              </a:rPr>
              <a:t>); </a:t>
            </a:r>
            <a:r>
              <a:rPr dirty="0">
                <a:solidFill>
                  <a:srgbClr val="F0F5FB"/>
                </a:solidFill>
              </a:rPr>
              <a:t>System.out.println(</a:t>
            </a:r>
            <a:r>
              <a:rPr dirty="0">
                <a:solidFill>
                  <a:srgbClr val="A5D5FF"/>
                </a:solidFill>
              </a:rPr>
              <a:t>"Welcome</a:t>
            </a:r>
            <a:r>
              <a:rPr spc="-5" dirty="0">
                <a:solidFill>
                  <a:srgbClr val="A5D5FF"/>
                </a:solidFill>
              </a:rPr>
              <a:t> </a:t>
            </a:r>
            <a:r>
              <a:rPr dirty="0">
                <a:solidFill>
                  <a:srgbClr val="A5D5FF"/>
                </a:solidFill>
              </a:rPr>
              <a:t>to</a:t>
            </a:r>
            <a:r>
              <a:rPr spc="-5" dirty="0">
                <a:solidFill>
                  <a:srgbClr val="A5D5FF"/>
                </a:solidFill>
              </a:rPr>
              <a:t> </a:t>
            </a:r>
            <a:r>
              <a:rPr dirty="0">
                <a:solidFill>
                  <a:srgbClr val="A5D5FF"/>
                </a:solidFill>
              </a:rPr>
              <a:t>CPS</a:t>
            </a:r>
            <a:r>
              <a:rPr spc="-5" dirty="0">
                <a:solidFill>
                  <a:srgbClr val="A5D5FF"/>
                </a:solidFill>
              </a:rPr>
              <a:t> </a:t>
            </a:r>
            <a:r>
              <a:rPr spc="-10" dirty="0">
                <a:solidFill>
                  <a:srgbClr val="A5D5FF"/>
                </a:solidFill>
              </a:rPr>
              <a:t>150"</a:t>
            </a:r>
            <a:r>
              <a:rPr spc="-10" dirty="0">
                <a:solidFill>
                  <a:srgbClr val="F0F5FB"/>
                </a:solidFill>
              </a:rPr>
              <a:t>);</a:t>
            </a:r>
          </a:p>
          <a:p>
            <a:pPr marL="528955">
              <a:lnSpc>
                <a:spcPts val="2080"/>
              </a:lnSpc>
            </a:pPr>
            <a:r>
              <a:rPr spc="-50" dirty="0">
                <a:solidFill>
                  <a:srgbClr val="F0F5FB"/>
                </a:solidFill>
              </a:rPr>
              <a:t>}</a:t>
            </a:r>
          </a:p>
          <a:p>
            <a:pPr marL="12700">
              <a:lnSpc>
                <a:spcPts val="2195"/>
              </a:lnSpc>
            </a:pPr>
            <a:r>
              <a:rPr spc="-50" dirty="0">
                <a:solidFill>
                  <a:srgbClr val="F0F5FB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905124"/>
            <a:ext cx="10696575" cy="866775"/>
            <a:chOff x="752474" y="290512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29098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90988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4"/>
                  </a:lnTo>
                  <a:lnTo>
                    <a:pt x="42167" y="856243"/>
                  </a:lnTo>
                  <a:lnTo>
                    <a:pt x="38793" y="855572"/>
                  </a:lnTo>
                  <a:lnTo>
                    <a:pt x="35517" y="854578"/>
                  </a:lnTo>
                  <a:lnTo>
                    <a:pt x="32339" y="853262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7"/>
                  </a:lnTo>
                  <a:lnTo>
                    <a:pt x="6917" y="831107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752474" y="5162549"/>
            <a:ext cx="10696575" cy="866775"/>
            <a:chOff x="752474" y="5162549"/>
            <a:chExt cx="10696575" cy="866775"/>
          </a:xfrm>
        </p:grpSpPr>
        <p:sp>
          <p:nvSpPr>
            <p:cNvPr id="6" name="object 6"/>
            <p:cNvSpPr/>
            <p:nvPr/>
          </p:nvSpPr>
          <p:spPr>
            <a:xfrm>
              <a:off x="757237" y="51673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57237" y="516731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8"/>
                  </a:lnTo>
                  <a:lnTo>
                    <a:pt x="23282" y="8827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6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78218" y="23281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1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35012" y="840739"/>
            <a:ext cx="524002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Write</a:t>
            </a:r>
            <a:r>
              <a:rPr spc="-70" dirty="0"/>
              <a:t> </a:t>
            </a:r>
            <a:r>
              <a:rPr spc="-20" dirty="0"/>
              <a:t>Your</a:t>
            </a:r>
            <a:r>
              <a:rPr spc="-70" dirty="0"/>
              <a:t> </a:t>
            </a:r>
            <a:r>
              <a:rPr dirty="0"/>
              <a:t>Own</a:t>
            </a:r>
            <a:r>
              <a:rPr spc="-70" dirty="0"/>
              <a:t> </a:t>
            </a:r>
            <a:r>
              <a:rPr spc="-10" dirty="0"/>
              <a:t>Programs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35012" y="1716468"/>
            <a:ext cx="100374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Write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program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that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gets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user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input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temperature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Celsius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and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converts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it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to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Fahrenheit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3029108"/>
            <a:ext cx="5447665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Enter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temperature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in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degrees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Celsius: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spc="-25" dirty="0">
                <a:solidFill>
                  <a:schemeClr val="accent3"/>
                </a:solidFill>
                <a:latin typeface="Consolas"/>
                <a:cs typeface="Consolas"/>
              </a:rPr>
              <a:t>25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The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temperature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in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Fahrenheit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77.0F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012" y="4000182"/>
            <a:ext cx="10220960" cy="904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5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Write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program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that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gets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user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input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number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of</a:t>
            </a:r>
            <a:r>
              <a:rPr sz="2800" spc="1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seconds</a:t>
            </a:r>
            <a:r>
              <a:rPr sz="2800" spc="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and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converts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it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to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minutes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and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seconds</a:t>
            </a:r>
            <a:endParaRPr sz="280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700" y="5286533"/>
            <a:ext cx="493141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Enter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number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of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seconds: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i="1" spc="-25" dirty="0">
                <a:solidFill>
                  <a:schemeClr val="accent3"/>
                </a:solidFill>
                <a:latin typeface="Consolas"/>
                <a:cs typeface="Consolas"/>
              </a:rPr>
              <a:t>125</a:t>
            </a:r>
            <a:endParaRPr sz="1850" i="1" dirty="0">
              <a:solidFill>
                <a:schemeClr val="accent3"/>
              </a:solidFill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125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seconds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2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minutes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and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5</a:t>
            </a:r>
            <a:r>
              <a:rPr sz="1850" spc="-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seconds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575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Consolas</vt:lpstr>
      <vt:lpstr>Segoe UI</vt:lpstr>
      <vt:lpstr>Segoe UI Semibold</vt:lpstr>
      <vt:lpstr>Office Theme</vt:lpstr>
      <vt:lpstr>CPS 150 Review Session #1</vt:lpstr>
      <vt:lpstr>Important Ideas</vt:lpstr>
      <vt:lpstr>Java Essentials</vt:lpstr>
      <vt:lpstr>Java Essentials</vt:lpstr>
      <vt:lpstr>Print Statements</vt:lpstr>
      <vt:lpstr>Variables</vt:lpstr>
      <vt:lpstr>Arithmetic</vt:lpstr>
      <vt:lpstr>Arithmetic</vt:lpstr>
      <vt:lpstr>Arithmetic</vt:lpstr>
      <vt:lpstr>Scanner</vt:lpstr>
      <vt:lpstr>Putting It All Together</vt:lpstr>
      <vt:lpstr>What's Wrong With This Code?</vt:lpstr>
      <vt:lpstr>What's Wrong With This Code?</vt:lpstr>
      <vt:lpstr>Write Your Own Programs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150 Review Session #1</dc:title>
  <cp:lastModifiedBy>Colin Kremer</cp:lastModifiedBy>
  <cp:revision>1</cp:revision>
  <dcterms:created xsi:type="dcterms:W3CDTF">2026-09-01T17:42:16Z</dcterms:created>
  <dcterms:modified xsi:type="dcterms:W3CDTF">2026-09-01T17:50:55Z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Created by Marp</vt:lpwstr>
  </property>
  <property fmtid="{D5CDD505-2E9C-101B-9397-08002B2CF9AE}" pid="5" name="LastSaved">
    <vt:filetime>2026-09-01T00:00:00Z</vt:filetime>
  </property>
  <property fmtid="{D5CDD505-2E9C-101B-9397-08002B2CF9AE}" pid="6" name="Producer">
    <vt:lpwstr>Created by Marp</vt:lpwstr>
  </property>
</Properties>
</file>