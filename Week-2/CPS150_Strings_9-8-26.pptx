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012" y="2802889"/>
            <a:ext cx="5361305" cy="556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CDE7FF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CDE7FF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CDE7FF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CDE7FF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812165"/>
            <a:ext cx="4109720" cy="1013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CDE7FF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374" y="1943099"/>
            <a:ext cx="5486400" cy="3796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44919" y="6322391"/>
            <a:ext cx="212725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CPS 150</a:t>
            </a:r>
            <a:r>
              <a:rPr spc="5" dirty="0"/>
              <a:t> </a:t>
            </a:r>
            <a:r>
              <a:rPr dirty="0"/>
              <a:t>Review</a:t>
            </a:r>
            <a:r>
              <a:rPr spc="10" dirty="0"/>
              <a:t> </a:t>
            </a:r>
            <a:r>
              <a:rPr dirty="0"/>
              <a:t>Session</a:t>
            </a:r>
            <a:r>
              <a:rPr spc="10" dirty="0"/>
              <a:t> </a:t>
            </a:r>
            <a:r>
              <a:rPr spc="-25" dirty="0"/>
              <a:t>#2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735012" y="3663950"/>
            <a:ext cx="3141345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Java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Strings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209799"/>
            <a:ext cx="10696575" cy="3838575"/>
            <a:chOff x="752474" y="2209799"/>
            <a:chExt cx="10696575" cy="3838575"/>
          </a:xfrm>
        </p:grpSpPr>
        <p:sp>
          <p:nvSpPr>
            <p:cNvPr id="3" name="object 3"/>
            <p:cNvSpPr/>
            <p:nvPr/>
          </p:nvSpPr>
          <p:spPr>
            <a:xfrm>
              <a:off x="757237" y="2214562"/>
              <a:ext cx="10687050" cy="3829050"/>
            </a:xfrm>
            <a:custGeom>
              <a:avLst/>
              <a:gdLst/>
              <a:ahLst/>
              <a:cxnLst/>
              <a:rect l="l" t="t" r="r" b="b"/>
              <a:pathLst>
                <a:path w="10687050" h="3829050">
                  <a:moveTo>
                    <a:pt x="10638100" y="3829049"/>
                  </a:moveTo>
                  <a:lnTo>
                    <a:pt x="48947" y="3829049"/>
                  </a:lnTo>
                  <a:lnTo>
                    <a:pt x="45540" y="3828714"/>
                  </a:lnTo>
                  <a:lnTo>
                    <a:pt x="10739" y="3808625"/>
                  </a:lnTo>
                  <a:lnTo>
                    <a:pt x="0" y="3780101"/>
                  </a:lnTo>
                  <a:lnTo>
                    <a:pt x="0" y="37766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3780101"/>
                  </a:lnTo>
                  <a:lnTo>
                    <a:pt x="10669272" y="3816137"/>
                  </a:lnTo>
                  <a:lnTo>
                    <a:pt x="10641507" y="3828714"/>
                  </a:lnTo>
                  <a:lnTo>
                    <a:pt x="10638100" y="38290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214562"/>
              <a:ext cx="10687050" cy="3829050"/>
            </a:xfrm>
            <a:custGeom>
              <a:avLst/>
              <a:gdLst/>
              <a:ahLst/>
              <a:cxnLst/>
              <a:rect l="l" t="t" r="r" b="b"/>
              <a:pathLst>
                <a:path w="10687050" h="3829050">
                  <a:moveTo>
                    <a:pt x="0" y="37766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4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3776662"/>
                  </a:lnTo>
                  <a:lnTo>
                    <a:pt x="10687049" y="3780101"/>
                  </a:lnTo>
                  <a:lnTo>
                    <a:pt x="10686713" y="3783508"/>
                  </a:lnTo>
                  <a:lnTo>
                    <a:pt x="10666625" y="3818309"/>
                  </a:lnTo>
                  <a:lnTo>
                    <a:pt x="10638100" y="3829049"/>
                  </a:lnTo>
                  <a:lnTo>
                    <a:pt x="10634661" y="3829049"/>
                  </a:lnTo>
                  <a:lnTo>
                    <a:pt x="52387" y="3829049"/>
                  </a:lnTo>
                  <a:lnTo>
                    <a:pt x="48947" y="3829049"/>
                  </a:lnTo>
                  <a:lnTo>
                    <a:pt x="45540" y="3828714"/>
                  </a:lnTo>
                  <a:lnTo>
                    <a:pt x="23282" y="3820220"/>
                  </a:lnTo>
                  <a:lnTo>
                    <a:pt x="20422" y="3818309"/>
                  </a:lnTo>
                  <a:lnTo>
                    <a:pt x="17776" y="3816137"/>
                  </a:lnTo>
                  <a:lnTo>
                    <a:pt x="15343" y="3813704"/>
                  </a:lnTo>
                  <a:lnTo>
                    <a:pt x="12911" y="3811272"/>
                  </a:lnTo>
                  <a:lnTo>
                    <a:pt x="1006" y="3786881"/>
                  </a:lnTo>
                  <a:lnTo>
                    <a:pt x="335" y="3783508"/>
                  </a:lnTo>
                  <a:lnTo>
                    <a:pt x="0" y="3780101"/>
                  </a:lnTo>
                  <a:lnTo>
                    <a:pt x="0" y="37766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812165"/>
            <a:ext cx="305816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Review</a:t>
            </a:r>
            <a:r>
              <a:rPr spc="-100" dirty="0"/>
              <a:t> </a:t>
            </a:r>
            <a:r>
              <a:rPr spc="-10" dirty="0"/>
              <a:t>Activity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735012" y="1673225"/>
            <a:ext cx="5873115" cy="12344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What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output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program?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ts val="2160"/>
              </a:lnSpc>
              <a:spcBef>
                <a:spcPts val="25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public class </a:t>
            </a:r>
            <a:r>
              <a:rPr sz="1850" dirty="0">
                <a:solidFill>
                  <a:srgbClr val="D1A7FF"/>
                </a:solidFill>
                <a:latin typeface="Consolas"/>
                <a:cs typeface="Consolas"/>
              </a:rPr>
              <a:t>Review 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{</a:t>
            </a:r>
            <a:endParaRPr sz="1850">
              <a:latin typeface="Consolas"/>
              <a:cs typeface="Consolas"/>
            </a:endParaRPr>
          </a:p>
          <a:p>
            <a:pPr marL="695325">
              <a:lnSpc>
                <a:spcPts val="2160"/>
              </a:lnSpc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public static void </a:t>
            </a:r>
            <a:r>
              <a:rPr sz="1850" dirty="0">
                <a:solidFill>
                  <a:srgbClr val="D1A7FF"/>
                </a:solidFill>
                <a:latin typeface="Consolas"/>
                <a:cs typeface="Consolas"/>
              </a:rPr>
              <a:t>main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(String[]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args)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{</a:t>
            </a:r>
            <a:endParaRPr sz="1850">
              <a:latin typeface="Consolas"/>
              <a:cs typeface="Consola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915368" y="2949826"/>
          <a:ext cx="3109595" cy="1042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90">
                <a:tc>
                  <a:txBody>
                    <a:bodyPr/>
                    <a:lstStyle/>
                    <a:p>
                      <a:pPr marR="24765" algn="ctr">
                        <a:lnSpc>
                          <a:spcPts val="1745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850" spc="-2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var1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850" spc="-5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745"/>
                        </a:lnSpc>
                      </a:pPr>
                      <a:r>
                        <a:rPr sz="1850" spc="-25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R="24765" algn="ct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2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var2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5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R="24765" algn="ct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2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var3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5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870"/>
                        </a:lnSpc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var1</a:t>
                      </a:r>
                      <a:r>
                        <a:rPr sz="1850" spc="-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/</a:t>
                      </a:r>
                      <a:r>
                        <a:rPr sz="1850" spc="-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var2;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R="24765" algn="ctr">
                        <a:lnSpc>
                          <a:spcPts val="1905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sz="1850" spc="-2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var4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sz="1850" spc="-5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905"/>
                        </a:lnSpc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var3</a:t>
                      </a:r>
                      <a:r>
                        <a:rPr sz="1850" spc="-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%</a:t>
                      </a:r>
                      <a:r>
                        <a:rPr sz="1850" spc="-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5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1700" y="4219733"/>
            <a:ext cx="5706110" cy="165988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045210" marR="5080">
              <a:lnSpc>
                <a:spcPct val="95700"/>
              </a:lnSpc>
              <a:spcBef>
                <a:spcPts val="1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System.out.println(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"The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result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is"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); System.out.print(var3);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System.out.print(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---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A5D5FF"/>
                </a:solidFill>
                <a:latin typeface="Consolas"/>
                <a:cs typeface="Consolas"/>
              </a:rPr>
              <a:t>"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);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System.out.println(var4);</a:t>
            </a:r>
            <a:endParaRPr sz="1850">
              <a:latin typeface="Consolas"/>
              <a:cs typeface="Consolas"/>
            </a:endParaRPr>
          </a:p>
          <a:p>
            <a:pPr marL="528955">
              <a:lnSpc>
                <a:spcPts val="2115"/>
              </a:lnSpc>
            </a:pP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428999"/>
            <a:ext cx="10696575" cy="1409700"/>
            <a:chOff x="752474" y="3428999"/>
            <a:chExt cx="10696575" cy="1409700"/>
          </a:xfrm>
        </p:grpSpPr>
        <p:sp>
          <p:nvSpPr>
            <p:cNvPr id="3" name="object 3"/>
            <p:cNvSpPr/>
            <p:nvPr/>
          </p:nvSpPr>
          <p:spPr>
            <a:xfrm>
              <a:off x="757237" y="3433762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10638100" y="1400174"/>
                  </a:moveTo>
                  <a:lnTo>
                    <a:pt x="48947" y="1400174"/>
                  </a:lnTo>
                  <a:lnTo>
                    <a:pt x="45540" y="1399838"/>
                  </a:lnTo>
                  <a:lnTo>
                    <a:pt x="10739" y="1379752"/>
                  </a:lnTo>
                  <a:lnTo>
                    <a:pt x="0" y="1351226"/>
                  </a:lnTo>
                  <a:lnTo>
                    <a:pt x="0" y="13477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351226"/>
                  </a:lnTo>
                  <a:lnTo>
                    <a:pt x="10669272" y="1387262"/>
                  </a:lnTo>
                  <a:lnTo>
                    <a:pt x="10641507" y="1399838"/>
                  </a:lnTo>
                  <a:lnTo>
                    <a:pt x="10638100" y="14001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433762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0" y="13477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347787"/>
                  </a:lnTo>
                  <a:lnTo>
                    <a:pt x="10687049" y="1351226"/>
                  </a:lnTo>
                  <a:lnTo>
                    <a:pt x="10686713" y="1354633"/>
                  </a:lnTo>
                  <a:lnTo>
                    <a:pt x="10666625" y="1389434"/>
                  </a:lnTo>
                  <a:lnTo>
                    <a:pt x="10634661" y="1400174"/>
                  </a:lnTo>
                  <a:lnTo>
                    <a:pt x="52387" y="1400174"/>
                  </a:lnTo>
                  <a:lnTo>
                    <a:pt x="23282" y="1391345"/>
                  </a:lnTo>
                  <a:lnTo>
                    <a:pt x="20422" y="1389434"/>
                  </a:lnTo>
                  <a:lnTo>
                    <a:pt x="1006" y="1358007"/>
                  </a:lnTo>
                  <a:lnTo>
                    <a:pt x="335" y="1354633"/>
                  </a:lnTo>
                  <a:lnTo>
                    <a:pt x="0" y="1351226"/>
                  </a:lnTo>
                  <a:lnTo>
                    <a:pt x="0" y="13477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2021839"/>
            <a:ext cx="258953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Type</a:t>
            </a:r>
            <a:r>
              <a:rPr spc="-120" dirty="0"/>
              <a:t> </a:t>
            </a:r>
            <a:r>
              <a:rPr spc="-10" dirty="0"/>
              <a:t>Casting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735012" y="2882900"/>
            <a:ext cx="6776720" cy="17868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Allows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convert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from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one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type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another</a:t>
            </a:r>
            <a:endParaRPr sz="2150">
              <a:latin typeface="Segoe UI"/>
              <a:cs typeface="Segoe UI"/>
            </a:endParaRPr>
          </a:p>
          <a:p>
            <a:pPr marL="179070" marR="4910455">
              <a:lnSpc>
                <a:spcPts val="2100"/>
              </a:lnSpc>
              <a:spcBef>
                <a:spcPts val="284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num1 =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5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;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num2 =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065"/>
              </a:lnSpc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double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div1 =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num1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num2;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9098A1"/>
                </a:solidFill>
                <a:latin typeface="Consolas"/>
                <a:cs typeface="Consolas"/>
              </a:rPr>
              <a:t>2.0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160"/>
              </a:lnSpc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double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div2 =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double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num1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double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num2;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9098A1"/>
                </a:solidFill>
                <a:latin typeface="Consolas"/>
                <a:cs typeface="Consolas"/>
              </a:rPr>
              <a:t>2.5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933699"/>
            <a:ext cx="10696575" cy="600075"/>
            <a:chOff x="752474" y="293369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29384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9384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739" y="570127"/>
                  </a:lnTo>
                  <a:lnTo>
                    <a:pt x="8828" y="567266"/>
                  </a:lnTo>
                  <a:lnTo>
                    <a:pt x="6917" y="564406"/>
                  </a:lnTo>
                  <a:lnTo>
                    <a:pt x="5304" y="561387"/>
                  </a:lnTo>
                  <a:lnTo>
                    <a:pt x="3987" y="558209"/>
                  </a:lnTo>
                  <a:lnTo>
                    <a:pt x="2671" y="555031"/>
                  </a:lnTo>
                  <a:lnTo>
                    <a:pt x="1677" y="551756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467224"/>
            <a:ext cx="10696575" cy="866775"/>
            <a:chOff x="752474" y="4467224"/>
            <a:chExt cx="10696575" cy="866775"/>
          </a:xfrm>
        </p:grpSpPr>
        <p:sp>
          <p:nvSpPr>
            <p:cNvPr id="6" name="object 6"/>
            <p:cNvSpPr/>
            <p:nvPr/>
          </p:nvSpPr>
          <p:spPr>
            <a:xfrm>
              <a:off x="757237" y="44719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6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4719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1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44881" y="856243"/>
                  </a:lnTo>
                  <a:lnTo>
                    <a:pt x="10641507" y="856914"/>
                  </a:lnTo>
                  <a:lnTo>
                    <a:pt x="10638100" y="85724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48947" y="857249"/>
                  </a:lnTo>
                  <a:lnTo>
                    <a:pt x="45540" y="856914"/>
                  </a:lnTo>
                  <a:lnTo>
                    <a:pt x="42167" y="856243"/>
                  </a:lnTo>
                  <a:lnTo>
                    <a:pt x="38793" y="85557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7776" y="844337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739" y="836826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5304" y="828087"/>
                  </a:lnTo>
                  <a:lnTo>
                    <a:pt x="3987" y="824909"/>
                  </a:lnTo>
                  <a:lnTo>
                    <a:pt x="2671" y="821731"/>
                  </a:lnTo>
                  <a:lnTo>
                    <a:pt x="1677" y="818455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35012" y="1526539"/>
            <a:ext cx="613346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Important</a:t>
            </a:r>
            <a:r>
              <a:rPr spc="-5" dirty="0"/>
              <a:t> </a:t>
            </a:r>
            <a:r>
              <a:rPr dirty="0"/>
              <a:t>Use</a:t>
            </a:r>
            <a:r>
              <a:rPr spc="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Type</a:t>
            </a:r>
            <a:r>
              <a:rPr spc="10" dirty="0"/>
              <a:t> </a:t>
            </a:r>
            <a:r>
              <a:rPr spc="-10" dirty="0"/>
              <a:t>Casting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35012" y="2387600"/>
            <a:ext cx="2788920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Random</a:t>
            </a:r>
            <a:r>
              <a:rPr sz="2150" spc="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numbers</a:t>
            </a:r>
            <a:r>
              <a:rPr sz="2150" spc="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90924" y="2409824"/>
            <a:ext cx="1857375" cy="371475"/>
          </a:xfrm>
          <a:custGeom>
            <a:avLst/>
            <a:gdLst/>
            <a:ahLst/>
            <a:cxnLst/>
            <a:rect l="l" t="t" r="r" b="b"/>
            <a:pathLst>
              <a:path w="1857375" h="371475">
                <a:moveTo>
                  <a:pt x="1803976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1803976" y="0"/>
                </a:lnTo>
                <a:lnTo>
                  <a:pt x="1843289" y="19391"/>
                </a:lnTo>
                <a:lnTo>
                  <a:pt x="1857374" y="53397"/>
                </a:lnTo>
                <a:lnTo>
                  <a:pt x="1857374" y="318077"/>
                </a:lnTo>
                <a:lnTo>
                  <a:pt x="1837981" y="357389"/>
                </a:lnTo>
                <a:lnTo>
                  <a:pt x="1807693" y="371108"/>
                </a:lnTo>
                <a:lnTo>
                  <a:pt x="1803976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67521" y="2428289"/>
            <a:ext cx="170370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Math.random()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2" name="object 12"/>
          <p:cNvSpPr txBox="1"/>
          <p:nvPr/>
        </p:nvSpPr>
        <p:spPr>
          <a:xfrm>
            <a:off x="901700" y="3057683"/>
            <a:ext cx="841756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randNum1 =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(Math.random()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*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100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+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rand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num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1-</a:t>
            </a:r>
            <a:r>
              <a:rPr sz="1850" spc="-25" dirty="0">
                <a:solidFill>
                  <a:srgbClr val="9098A1"/>
                </a:solidFill>
                <a:latin typeface="Consolas"/>
                <a:cs typeface="Consolas"/>
              </a:rPr>
              <a:t>100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5012" y="3762057"/>
            <a:ext cx="520890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Alternative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Using</a:t>
            </a:r>
            <a:r>
              <a:rPr sz="2800" spc="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Random</a:t>
            </a:r>
            <a:r>
              <a:rPr sz="2800" spc="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Class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1700" y="4591208"/>
            <a:ext cx="4803140" cy="57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Random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rand =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new </a:t>
            </a:r>
            <a:r>
              <a:rPr sz="1850" spc="-10" dirty="0">
                <a:solidFill>
                  <a:srgbClr val="D1A7FF"/>
                </a:solidFill>
                <a:latin typeface="Consolas"/>
                <a:cs typeface="Consolas"/>
              </a:rPr>
              <a:t>Random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();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randNum2 =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rand.nextInt(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100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+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810124"/>
            <a:ext cx="1466850" cy="542925"/>
            <a:chOff x="752474" y="4810124"/>
            <a:chExt cx="1466850" cy="542925"/>
          </a:xfrm>
        </p:grpSpPr>
        <p:sp>
          <p:nvSpPr>
            <p:cNvPr id="3" name="object 3"/>
            <p:cNvSpPr/>
            <p:nvPr/>
          </p:nvSpPr>
          <p:spPr>
            <a:xfrm>
              <a:off x="752474" y="4810124"/>
              <a:ext cx="1466850" cy="542925"/>
            </a:xfrm>
            <a:custGeom>
              <a:avLst/>
              <a:gdLst/>
              <a:ahLst/>
              <a:cxnLst/>
              <a:rect l="l" t="t" r="r" b="b"/>
              <a:pathLst>
                <a:path w="1466850" h="542925">
                  <a:moveTo>
                    <a:pt x="1466849" y="542924"/>
                  </a:moveTo>
                  <a:lnTo>
                    <a:pt x="0" y="542924"/>
                  </a:lnTo>
                  <a:lnTo>
                    <a:pt x="0" y="0"/>
                  </a:lnTo>
                  <a:lnTo>
                    <a:pt x="1466849" y="0"/>
                  </a:lnTo>
                  <a:lnTo>
                    <a:pt x="1466849" y="54292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85824" y="4914899"/>
              <a:ext cx="438150" cy="371475"/>
            </a:xfrm>
            <a:custGeom>
              <a:avLst/>
              <a:gdLst/>
              <a:ahLst/>
              <a:cxnLst/>
              <a:rect l="l" t="t" r="r" b="b"/>
              <a:pathLst>
                <a:path w="438150" h="371475">
                  <a:moveTo>
                    <a:pt x="384752" y="371474"/>
                  </a:moveTo>
                  <a:lnTo>
                    <a:pt x="53397" y="371474"/>
                  </a:lnTo>
                  <a:lnTo>
                    <a:pt x="49680" y="371108"/>
                  </a:lnTo>
                  <a:lnTo>
                    <a:pt x="14085" y="352081"/>
                  </a:lnTo>
                  <a:lnTo>
                    <a:pt x="0" y="318077"/>
                  </a:lnTo>
                  <a:lnTo>
                    <a:pt x="0" y="314324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384752" y="0"/>
                  </a:lnTo>
                  <a:lnTo>
                    <a:pt x="424064" y="19391"/>
                  </a:lnTo>
                  <a:lnTo>
                    <a:pt x="438149" y="53397"/>
                  </a:lnTo>
                  <a:lnTo>
                    <a:pt x="438149" y="318077"/>
                  </a:lnTo>
                  <a:lnTo>
                    <a:pt x="418757" y="357388"/>
                  </a:lnTo>
                  <a:lnTo>
                    <a:pt x="388468" y="371108"/>
                  </a:lnTo>
                  <a:lnTo>
                    <a:pt x="384752" y="371474"/>
                  </a:lnTo>
                  <a:close/>
                </a:path>
              </a:pathLst>
            </a:custGeom>
            <a:solidFill>
              <a:srgbClr val="656B7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89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Characters</a:t>
            </a:r>
          </a:p>
        </p:txBody>
      </p:sp>
      <p:sp>
        <p:nvSpPr>
          <p:cNvPr id="6" name="object 6"/>
          <p:cNvSpPr/>
          <p:nvPr/>
        </p:nvSpPr>
        <p:spPr>
          <a:xfrm>
            <a:off x="752474" y="1847849"/>
            <a:ext cx="695325" cy="371475"/>
          </a:xfrm>
          <a:custGeom>
            <a:avLst/>
            <a:gdLst/>
            <a:ahLst/>
            <a:cxnLst/>
            <a:rect l="l" t="t" r="r" b="b"/>
            <a:pathLst>
              <a:path w="695325" h="371475">
                <a:moveTo>
                  <a:pt x="64192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641927" y="0"/>
                </a:lnTo>
                <a:lnTo>
                  <a:pt x="681239" y="19391"/>
                </a:lnTo>
                <a:lnTo>
                  <a:pt x="695324" y="53397"/>
                </a:lnTo>
                <a:lnTo>
                  <a:pt x="695324" y="318077"/>
                </a:lnTo>
                <a:lnTo>
                  <a:pt x="675932" y="357389"/>
                </a:lnTo>
                <a:lnTo>
                  <a:pt x="645643" y="371108"/>
                </a:lnTo>
                <a:lnTo>
                  <a:pt x="6419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5012" y="1825625"/>
            <a:ext cx="6478270" cy="17094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char</a:t>
            </a:r>
            <a:r>
              <a:rPr sz="1850" spc="3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store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individual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character/symbol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0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Escape</a:t>
            </a:r>
            <a:r>
              <a:rPr sz="2800" spc="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Sequences</a:t>
            </a:r>
            <a:endParaRPr sz="28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39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Special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characters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that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allow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specific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formatting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85824" y="4371974"/>
            <a:ext cx="438150" cy="371475"/>
          </a:xfrm>
          <a:custGeom>
            <a:avLst/>
            <a:gdLst/>
            <a:ahLst/>
            <a:cxnLst/>
            <a:rect l="l" t="t" r="r" b="b"/>
            <a:pathLst>
              <a:path w="438150" h="371475">
                <a:moveTo>
                  <a:pt x="384752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384752" y="0"/>
                </a:lnTo>
                <a:lnTo>
                  <a:pt x="424064" y="19391"/>
                </a:lnTo>
                <a:lnTo>
                  <a:pt x="438149" y="53397"/>
                </a:lnTo>
                <a:lnTo>
                  <a:pt x="438149" y="318077"/>
                </a:lnTo>
                <a:lnTo>
                  <a:pt x="418757" y="357388"/>
                </a:lnTo>
                <a:lnTo>
                  <a:pt x="388468" y="371108"/>
                </a:lnTo>
                <a:lnTo>
                  <a:pt x="384752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5824" y="5457824"/>
            <a:ext cx="438150" cy="371475"/>
          </a:xfrm>
          <a:custGeom>
            <a:avLst/>
            <a:gdLst/>
            <a:ahLst/>
            <a:cxnLst/>
            <a:rect l="l" t="t" r="r" b="b"/>
            <a:pathLst>
              <a:path w="438150" h="371475">
                <a:moveTo>
                  <a:pt x="384752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384752" y="0"/>
                </a:lnTo>
                <a:lnTo>
                  <a:pt x="424064" y="19391"/>
                </a:lnTo>
                <a:lnTo>
                  <a:pt x="438149" y="53397"/>
                </a:lnTo>
                <a:lnTo>
                  <a:pt x="438149" y="318077"/>
                </a:lnTo>
                <a:lnTo>
                  <a:pt x="418757" y="357388"/>
                </a:lnTo>
                <a:lnTo>
                  <a:pt x="388468" y="371108"/>
                </a:lnTo>
                <a:lnTo>
                  <a:pt x="384752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52474" y="3724274"/>
          <a:ext cx="3733800" cy="2159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27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Sequence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Use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\n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New</a:t>
                      </a:r>
                      <a:r>
                        <a:rPr sz="2150" spc="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line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\t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Tab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\"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Quotation</a:t>
                      </a:r>
                      <a:r>
                        <a:rPr sz="2150" spc="1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mark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943224"/>
            <a:ext cx="10696575" cy="600075"/>
            <a:chOff x="752474" y="294322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29479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8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9479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4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32339" y="586561"/>
                  </a:lnTo>
                  <a:lnTo>
                    <a:pt x="29161" y="585245"/>
                  </a:lnTo>
                  <a:lnTo>
                    <a:pt x="26142" y="583632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7776" y="577638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739" y="570127"/>
                  </a:lnTo>
                  <a:lnTo>
                    <a:pt x="8828" y="567267"/>
                  </a:lnTo>
                  <a:lnTo>
                    <a:pt x="6917" y="564407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1545589"/>
            <a:ext cx="140716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Strings</a:t>
            </a:r>
          </a:p>
        </p:txBody>
      </p:sp>
      <p:sp>
        <p:nvSpPr>
          <p:cNvPr id="6" name="object 6"/>
          <p:cNvSpPr/>
          <p:nvPr/>
        </p:nvSpPr>
        <p:spPr>
          <a:xfrm>
            <a:off x="6410324" y="4533899"/>
            <a:ext cx="581025" cy="371475"/>
          </a:xfrm>
          <a:custGeom>
            <a:avLst/>
            <a:gdLst/>
            <a:ahLst/>
            <a:cxnLst/>
            <a:rect l="l" t="t" r="r" b="b"/>
            <a:pathLst>
              <a:path w="581025" h="371475">
                <a:moveTo>
                  <a:pt x="52762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4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4"/>
                </a:lnTo>
                <a:lnTo>
                  <a:pt x="53397" y="0"/>
                </a:lnTo>
                <a:lnTo>
                  <a:pt x="527627" y="0"/>
                </a:lnTo>
                <a:lnTo>
                  <a:pt x="566939" y="19391"/>
                </a:lnTo>
                <a:lnTo>
                  <a:pt x="581024" y="53397"/>
                </a:lnTo>
                <a:lnTo>
                  <a:pt x="581024" y="318077"/>
                </a:lnTo>
                <a:lnTo>
                  <a:pt x="561631" y="357389"/>
                </a:lnTo>
                <a:lnTo>
                  <a:pt x="531343" y="371108"/>
                </a:lnTo>
                <a:lnTo>
                  <a:pt x="5276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24699" y="4533899"/>
            <a:ext cx="962025" cy="371475"/>
          </a:xfrm>
          <a:custGeom>
            <a:avLst/>
            <a:gdLst/>
            <a:ahLst/>
            <a:cxnLst/>
            <a:rect l="l" t="t" r="r" b="b"/>
            <a:pathLst>
              <a:path w="962025" h="371475">
                <a:moveTo>
                  <a:pt x="90862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908627" y="0"/>
                </a:lnTo>
                <a:lnTo>
                  <a:pt x="947938" y="19391"/>
                </a:lnTo>
                <a:lnTo>
                  <a:pt x="962024" y="53397"/>
                </a:lnTo>
                <a:lnTo>
                  <a:pt x="962024" y="318077"/>
                </a:lnTo>
                <a:lnTo>
                  <a:pt x="942632" y="357389"/>
                </a:lnTo>
                <a:lnTo>
                  <a:pt x="912343" y="371108"/>
                </a:lnTo>
                <a:lnTo>
                  <a:pt x="9086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5012" y="2406650"/>
            <a:ext cx="10330180" cy="28809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Strings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object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Java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that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store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sequence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characters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5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String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myString =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"Hello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World"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Objects</a:t>
            </a:r>
            <a:r>
              <a:rPr sz="2800" spc="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vs</a:t>
            </a:r>
            <a:r>
              <a:rPr sz="2800" spc="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Primatives</a:t>
            </a:r>
            <a:endParaRPr sz="2800">
              <a:latin typeface="Segoe UI Semibold"/>
              <a:cs typeface="Segoe UI Semibold"/>
            </a:endParaRPr>
          </a:p>
          <a:p>
            <a:pPr marL="12700" marR="5080">
              <a:lnSpc>
                <a:spcPct val="127899"/>
              </a:lnSpc>
              <a:spcBef>
                <a:spcPts val="175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Strings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different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than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primitive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types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</a:t>
            </a:r>
            <a:r>
              <a:rPr sz="2150" spc="1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int</a:t>
            </a:r>
            <a:r>
              <a:rPr sz="1850" spc="-2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,</a:t>
            </a:r>
            <a:r>
              <a:rPr sz="2150" spc="105" dirty="0">
                <a:solidFill>
                  <a:srgbClr val="F0F5FB"/>
                </a:solidFill>
                <a:latin typeface="Segoe UI"/>
                <a:cs typeface="Segoe UI"/>
              </a:rPr>
              <a:t> 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double</a:t>
            </a:r>
            <a:r>
              <a:rPr sz="1850" spc="-2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,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etc.)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because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they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have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special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properties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(methods)</a:t>
            </a:r>
            <a:r>
              <a:rPr sz="2150" spc="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built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them,</a:t>
            </a:r>
            <a:r>
              <a:rPr sz="2150" spc="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they</a:t>
            </a:r>
            <a:r>
              <a:rPr sz="2150" spc="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store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uniquely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62" y="3028949"/>
            <a:ext cx="5410200" cy="542925"/>
          </a:xfrm>
          <a:custGeom>
            <a:avLst/>
            <a:gdLst/>
            <a:ahLst/>
            <a:cxnLst/>
            <a:rect l="l" t="t" r="r" b="b"/>
            <a:pathLst>
              <a:path w="5410200" h="542925">
                <a:moveTo>
                  <a:pt x="5410200" y="0"/>
                </a:moveTo>
                <a:lnTo>
                  <a:pt x="3543300" y="0"/>
                </a:lnTo>
                <a:lnTo>
                  <a:pt x="0" y="0"/>
                </a:lnTo>
                <a:lnTo>
                  <a:pt x="0" y="542925"/>
                </a:lnTo>
                <a:lnTo>
                  <a:pt x="3543300" y="542925"/>
                </a:lnTo>
                <a:lnTo>
                  <a:pt x="5410200" y="542925"/>
                </a:lnTo>
                <a:lnTo>
                  <a:pt x="5410200" y="0"/>
                </a:lnTo>
                <a:close/>
              </a:path>
            </a:pathLst>
          </a:custGeom>
          <a:solidFill>
            <a:srgbClr val="151B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2462" y="4114800"/>
            <a:ext cx="5410200" cy="542925"/>
          </a:xfrm>
          <a:custGeom>
            <a:avLst/>
            <a:gdLst/>
            <a:ahLst/>
            <a:cxnLst/>
            <a:rect l="l" t="t" r="r" b="b"/>
            <a:pathLst>
              <a:path w="5410200" h="542925">
                <a:moveTo>
                  <a:pt x="5410200" y="0"/>
                </a:moveTo>
                <a:lnTo>
                  <a:pt x="3543300" y="0"/>
                </a:lnTo>
                <a:lnTo>
                  <a:pt x="0" y="0"/>
                </a:lnTo>
                <a:lnTo>
                  <a:pt x="0" y="542925"/>
                </a:lnTo>
                <a:lnTo>
                  <a:pt x="3543300" y="542925"/>
                </a:lnTo>
                <a:lnTo>
                  <a:pt x="5410200" y="542925"/>
                </a:lnTo>
                <a:lnTo>
                  <a:pt x="5410200" y="0"/>
                </a:lnTo>
                <a:close/>
              </a:path>
            </a:pathLst>
          </a:custGeom>
          <a:solidFill>
            <a:srgbClr val="151B2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52474" y="5200649"/>
            <a:ext cx="5410200" cy="542925"/>
            <a:chOff x="752474" y="5200649"/>
            <a:chExt cx="5410200" cy="542925"/>
          </a:xfrm>
        </p:grpSpPr>
        <p:sp>
          <p:nvSpPr>
            <p:cNvPr id="5" name="object 5"/>
            <p:cNvSpPr/>
            <p:nvPr/>
          </p:nvSpPr>
          <p:spPr>
            <a:xfrm>
              <a:off x="752462" y="5200649"/>
              <a:ext cx="5410200" cy="542925"/>
            </a:xfrm>
            <a:custGeom>
              <a:avLst/>
              <a:gdLst/>
              <a:ahLst/>
              <a:cxnLst/>
              <a:rect l="l" t="t" r="r" b="b"/>
              <a:pathLst>
                <a:path w="5410200" h="542925">
                  <a:moveTo>
                    <a:pt x="5410200" y="0"/>
                  </a:moveTo>
                  <a:lnTo>
                    <a:pt x="3543300" y="0"/>
                  </a:lnTo>
                  <a:lnTo>
                    <a:pt x="0" y="0"/>
                  </a:lnTo>
                  <a:lnTo>
                    <a:pt x="0" y="542925"/>
                  </a:lnTo>
                  <a:lnTo>
                    <a:pt x="3543300" y="542925"/>
                  </a:lnTo>
                  <a:lnTo>
                    <a:pt x="5410200" y="542925"/>
                  </a:lnTo>
                  <a:lnTo>
                    <a:pt x="5410200" y="0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85812" y="5314949"/>
              <a:ext cx="5143500" cy="371475"/>
            </a:xfrm>
            <a:custGeom>
              <a:avLst/>
              <a:gdLst/>
              <a:ahLst/>
              <a:cxnLst/>
              <a:rect l="l" t="t" r="r" b="b"/>
              <a:pathLst>
                <a:path w="5143500" h="371475">
                  <a:moveTo>
                    <a:pt x="2505075" y="53403"/>
                  </a:moveTo>
                  <a:lnTo>
                    <a:pt x="2485682" y="14097"/>
                  </a:lnTo>
                  <a:lnTo>
                    <a:pt x="2451684" y="0"/>
                  </a:lnTo>
                  <a:lnTo>
                    <a:pt x="53403" y="0"/>
                  </a:lnTo>
                  <a:lnTo>
                    <a:pt x="14097" y="19392"/>
                  </a:lnTo>
                  <a:lnTo>
                    <a:pt x="0" y="53403"/>
                  </a:lnTo>
                  <a:lnTo>
                    <a:pt x="0" y="314325"/>
                  </a:lnTo>
                  <a:lnTo>
                    <a:pt x="0" y="318084"/>
                  </a:lnTo>
                  <a:lnTo>
                    <a:pt x="19392" y="357390"/>
                  </a:lnTo>
                  <a:lnTo>
                    <a:pt x="53403" y="371475"/>
                  </a:lnTo>
                  <a:lnTo>
                    <a:pt x="2451684" y="371475"/>
                  </a:lnTo>
                  <a:lnTo>
                    <a:pt x="2490990" y="352082"/>
                  </a:lnTo>
                  <a:lnTo>
                    <a:pt x="2505075" y="318084"/>
                  </a:lnTo>
                  <a:lnTo>
                    <a:pt x="2505075" y="53403"/>
                  </a:lnTo>
                  <a:close/>
                </a:path>
                <a:path w="5143500" h="371475">
                  <a:moveTo>
                    <a:pt x="5143500" y="53403"/>
                  </a:moveTo>
                  <a:lnTo>
                    <a:pt x="5124107" y="14097"/>
                  </a:lnTo>
                  <a:lnTo>
                    <a:pt x="5090109" y="0"/>
                  </a:lnTo>
                  <a:lnTo>
                    <a:pt x="3587178" y="0"/>
                  </a:lnTo>
                  <a:lnTo>
                    <a:pt x="3547872" y="19392"/>
                  </a:lnTo>
                  <a:lnTo>
                    <a:pt x="3533775" y="53403"/>
                  </a:lnTo>
                  <a:lnTo>
                    <a:pt x="3533775" y="314325"/>
                  </a:lnTo>
                  <a:lnTo>
                    <a:pt x="3533775" y="318084"/>
                  </a:lnTo>
                  <a:lnTo>
                    <a:pt x="3553168" y="357390"/>
                  </a:lnTo>
                  <a:lnTo>
                    <a:pt x="3587178" y="371475"/>
                  </a:lnTo>
                  <a:lnTo>
                    <a:pt x="5090109" y="371475"/>
                  </a:lnTo>
                  <a:lnTo>
                    <a:pt x="5129415" y="352082"/>
                  </a:lnTo>
                  <a:lnTo>
                    <a:pt x="5143500" y="318084"/>
                  </a:lnTo>
                  <a:lnTo>
                    <a:pt x="5143500" y="53403"/>
                  </a:lnTo>
                  <a:close/>
                </a:path>
              </a:pathLst>
            </a:custGeom>
            <a:solidFill>
              <a:srgbClr val="656B7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7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String</a:t>
            </a:r>
            <a:r>
              <a:rPr spc="-7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8" name="object 8"/>
          <p:cNvSpPr/>
          <p:nvPr/>
        </p:nvSpPr>
        <p:spPr>
          <a:xfrm>
            <a:off x="885824" y="2600324"/>
            <a:ext cx="3019425" cy="371475"/>
          </a:xfrm>
          <a:custGeom>
            <a:avLst/>
            <a:gdLst/>
            <a:ahLst/>
            <a:cxnLst/>
            <a:rect l="l" t="t" r="r" b="b"/>
            <a:pathLst>
              <a:path w="3019425" h="371475">
                <a:moveTo>
                  <a:pt x="296602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2966027" y="0"/>
                </a:lnTo>
                <a:lnTo>
                  <a:pt x="3005339" y="19392"/>
                </a:lnTo>
                <a:lnTo>
                  <a:pt x="3019424" y="53397"/>
                </a:lnTo>
                <a:lnTo>
                  <a:pt x="3019424" y="318077"/>
                </a:lnTo>
                <a:lnTo>
                  <a:pt x="3000032" y="357389"/>
                </a:lnTo>
                <a:lnTo>
                  <a:pt x="2969743" y="371108"/>
                </a:lnTo>
                <a:lnTo>
                  <a:pt x="29660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19599" y="2600324"/>
            <a:ext cx="1609725" cy="371475"/>
          </a:xfrm>
          <a:custGeom>
            <a:avLst/>
            <a:gdLst/>
            <a:ahLst/>
            <a:cxnLst/>
            <a:rect l="l" t="t" r="r" b="b"/>
            <a:pathLst>
              <a:path w="1609725" h="371475">
                <a:moveTo>
                  <a:pt x="155632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1556327" y="0"/>
                </a:lnTo>
                <a:lnTo>
                  <a:pt x="1595639" y="19392"/>
                </a:lnTo>
                <a:lnTo>
                  <a:pt x="1609724" y="53397"/>
                </a:lnTo>
                <a:lnTo>
                  <a:pt x="1609724" y="318077"/>
                </a:lnTo>
                <a:lnTo>
                  <a:pt x="1590332" y="357389"/>
                </a:lnTo>
                <a:lnTo>
                  <a:pt x="1560043" y="371108"/>
                </a:lnTo>
                <a:lnTo>
                  <a:pt x="15563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85824" y="3143249"/>
            <a:ext cx="3019425" cy="371475"/>
          </a:xfrm>
          <a:custGeom>
            <a:avLst/>
            <a:gdLst/>
            <a:ahLst/>
            <a:cxnLst/>
            <a:rect l="l" t="t" r="r" b="b"/>
            <a:pathLst>
              <a:path w="3019425" h="371475">
                <a:moveTo>
                  <a:pt x="296602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966027" y="0"/>
                </a:lnTo>
                <a:lnTo>
                  <a:pt x="3005339" y="19391"/>
                </a:lnTo>
                <a:lnTo>
                  <a:pt x="3019424" y="53397"/>
                </a:lnTo>
                <a:lnTo>
                  <a:pt x="3019424" y="318077"/>
                </a:lnTo>
                <a:lnTo>
                  <a:pt x="3000032" y="357388"/>
                </a:lnTo>
                <a:lnTo>
                  <a:pt x="2969743" y="371108"/>
                </a:lnTo>
                <a:lnTo>
                  <a:pt x="29660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19599" y="3143249"/>
            <a:ext cx="1609725" cy="371475"/>
          </a:xfrm>
          <a:custGeom>
            <a:avLst/>
            <a:gdLst/>
            <a:ahLst/>
            <a:cxnLst/>
            <a:rect l="l" t="t" r="r" b="b"/>
            <a:pathLst>
              <a:path w="1609725" h="371475">
                <a:moveTo>
                  <a:pt x="155632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1556327" y="0"/>
                </a:lnTo>
                <a:lnTo>
                  <a:pt x="1595639" y="19391"/>
                </a:lnTo>
                <a:lnTo>
                  <a:pt x="1609724" y="53397"/>
                </a:lnTo>
                <a:lnTo>
                  <a:pt x="1609724" y="318077"/>
                </a:lnTo>
                <a:lnTo>
                  <a:pt x="1590332" y="357388"/>
                </a:lnTo>
                <a:lnTo>
                  <a:pt x="1560043" y="371108"/>
                </a:lnTo>
                <a:lnTo>
                  <a:pt x="15563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5824" y="3686174"/>
            <a:ext cx="2381250" cy="371475"/>
          </a:xfrm>
          <a:custGeom>
            <a:avLst/>
            <a:gdLst/>
            <a:ahLst/>
            <a:cxnLst/>
            <a:rect l="l" t="t" r="r" b="b"/>
            <a:pathLst>
              <a:path w="2381250" h="371475">
                <a:moveTo>
                  <a:pt x="2327852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327852" y="0"/>
                </a:lnTo>
                <a:lnTo>
                  <a:pt x="2367164" y="19392"/>
                </a:lnTo>
                <a:lnTo>
                  <a:pt x="2381249" y="53397"/>
                </a:lnTo>
                <a:lnTo>
                  <a:pt x="2381249" y="318077"/>
                </a:lnTo>
                <a:lnTo>
                  <a:pt x="2361857" y="357389"/>
                </a:lnTo>
                <a:lnTo>
                  <a:pt x="2331568" y="371108"/>
                </a:lnTo>
                <a:lnTo>
                  <a:pt x="2327852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19599" y="3686174"/>
            <a:ext cx="447675" cy="371475"/>
          </a:xfrm>
          <a:custGeom>
            <a:avLst/>
            <a:gdLst/>
            <a:ahLst/>
            <a:cxnLst/>
            <a:rect l="l" t="t" r="r" b="b"/>
            <a:pathLst>
              <a:path w="447675" h="371475">
                <a:moveTo>
                  <a:pt x="39427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394277" y="0"/>
                </a:lnTo>
                <a:lnTo>
                  <a:pt x="433589" y="19392"/>
                </a:lnTo>
                <a:lnTo>
                  <a:pt x="447675" y="53397"/>
                </a:lnTo>
                <a:lnTo>
                  <a:pt x="447675" y="318077"/>
                </a:lnTo>
                <a:lnTo>
                  <a:pt x="428282" y="357389"/>
                </a:lnTo>
                <a:lnTo>
                  <a:pt x="397993" y="371108"/>
                </a:lnTo>
                <a:lnTo>
                  <a:pt x="39427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85824" y="4229099"/>
            <a:ext cx="3276600" cy="371475"/>
          </a:xfrm>
          <a:custGeom>
            <a:avLst/>
            <a:gdLst/>
            <a:ahLst/>
            <a:cxnLst/>
            <a:rect l="l" t="t" r="r" b="b"/>
            <a:pathLst>
              <a:path w="3276600" h="371475">
                <a:moveTo>
                  <a:pt x="3223202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3223202" y="0"/>
                </a:lnTo>
                <a:lnTo>
                  <a:pt x="3262513" y="19392"/>
                </a:lnTo>
                <a:lnTo>
                  <a:pt x="3276599" y="53397"/>
                </a:lnTo>
                <a:lnTo>
                  <a:pt x="3276599" y="318077"/>
                </a:lnTo>
                <a:lnTo>
                  <a:pt x="3257206" y="357389"/>
                </a:lnTo>
                <a:lnTo>
                  <a:pt x="3226918" y="371108"/>
                </a:lnTo>
                <a:lnTo>
                  <a:pt x="3223202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19599" y="4229099"/>
            <a:ext cx="838200" cy="371475"/>
          </a:xfrm>
          <a:custGeom>
            <a:avLst/>
            <a:gdLst/>
            <a:ahLst/>
            <a:cxnLst/>
            <a:rect l="l" t="t" r="r" b="b"/>
            <a:pathLst>
              <a:path w="838200" h="371475">
                <a:moveTo>
                  <a:pt x="784802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784802" y="0"/>
                </a:lnTo>
                <a:lnTo>
                  <a:pt x="824115" y="19392"/>
                </a:lnTo>
                <a:lnTo>
                  <a:pt x="838199" y="53397"/>
                </a:lnTo>
                <a:lnTo>
                  <a:pt x="838199" y="318077"/>
                </a:lnTo>
                <a:lnTo>
                  <a:pt x="818807" y="357389"/>
                </a:lnTo>
                <a:lnTo>
                  <a:pt x="788518" y="371108"/>
                </a:lnTo>
                <a:lnTo>
                  <a:pt x="784802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85824" y="4772024"/>
            <a:ext cx="1476375" cy="371475"/>
          </a:xfrm>
          <a:custGeom>
            <a:avLst/>
            <a:gdLst/>
            <a:ahLst/>
            <a:cxnLst/>
            <a:rect l="l" t="t" r="r" b="b"/>
            <a:pathLst>
              <a:path w="1476375" h="371475">
                <a:moveTo>
                  <a:pt x="142297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1422977" y="0"/>
                </a:lnTo>
                <a:lnTo>
                  <a:pt x="1462289" y="19391"/>
                </a:lnTo>
                <a:lnTo>
                  <a:pt x="1476374" y="53397"/>
                </a:lnTo>
                <a:lnTo>
                  <a:pt x="1476374" y="318077"/>
                </a:lnTo>
                <a:lnTo>
                  <a:pt x="1456982" y="357389"/>
                </a:lnTo>
                <a:lnTo>
                  <a:pt x="1426693" y="371108"/>
                </a:lnTo>
                <a:lnTo>
                  <a:pt x="142297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19599" y="4772024"/>
            <a:ext cx="323850" cy="371475"/>
          </a:xfrm>
          <a:custGeom>
            <a:avLst/>
            <a:gdLst/>
            <a:ahLst/>
            <a:cxnLst/>
            <a:rect l="l" t="t" r="r" b="b"/>
            <a:pathLst>
              <a:path w="323850" h="371475">
                <a:moveTo>
                  <a:pt x="270452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70452" y="0"/>
                </a:lnTo>
                <a:lnTo>
                  <a:pt x="309764" y="19391"/>
                </a:lnTo>
                <a:lnTo>
                  <a:pt x="323849" y="53397"/>
                </a:lnTo>
                <a:lnTo>
                  <a:pt x="323849" y="318077"/>
                </a:lnTo>
                <a:lnTo>
                  <a:pt x="304457" y="357389"/>
                </a:lnTo>
                <a:lnTo>
                  <a:pt x="274169" y="371108"/>
                </a:lnTo>
                <a:lnTo>
                  <a:pt x="270452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752474" y="1943099"/>
          <a:ext cx="5400675" cy="3796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2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Method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49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Result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myString.toUpperCase()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HELLO</a:t>
                      </a:r>
                      <a:r>
                        <a:rPr sz="1850" spc="-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WORLD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myString.toLowerCase()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hello</a:t>
                      </a:r>
                      <a:r>
                        <a:rPr sz="1850" spc="-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world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myString.length()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myString.substring(3,</a:t>
                      </a:r>
                      <a:r>
                        <a:rPr sz="1850" spc="-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8)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lo</a:t>
                      </a:r>
                      <a:r>
                        <a:rPr sz="1850" spc="-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Wo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.charAt(8)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r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.replace('l',</a:t>
                      </a:r>
                      <a:r>
                        <a:rPr sz="1850" spc="-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'p')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Heppo</a:t>
                      </a:r>
                      <a:r>
                        <a:rPr sz="1850" spc="-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Worpd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676524"/>
            <a:ext cx="10696575" cy="1143000"/>
            <a:chOff x="752474" y="2676524"/>
            <a:chExt cx="10696575" cy="1143000"/>
          </a:xfrm>
        </p:grpSpPr>
        <p:sp>
          <p:nvSpPr>
            <p:cNvPr id="3" name="object 3"/>
            <p:cNvSpPr/>
            <p:nvPr/>
          </p:nvSpPr>
          <p:spPr>
            <a:xfrm>
              <a:off x="757237" y="26812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9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9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6812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8100" y="113347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48947" y="1133474"/>
                  </a:lnTo>
                  <a:lnTo>
                    <a:pt x="45540" y="1133139"/>
                  </a:lnTo>
                  <a:lnTo>
                    <a:pt x="42167" y="1132468"/>
                  </a:lnTo>
                  <a:lnTo>
                    <a:pt x="38793" y="1131796"/>
                  </a:lnTo>
                  <a:lnTo>
                    <a:pt x="35517" y="1130803"/>
                  </a:lnTo>
                  <a:lnTo>
                    <a:pt x="32339" y="1129486"/>
                  </a:lnTo>
                  <a:lnTo>
                    <a:pt x="29161" y="1128170"/>
                  </a:lnTo>
                  <a:lnTo>
                    <a:pt x="26142" y="1126556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8828" y="1110192"/>
                  </a:lnTo>
                  <a:lnTo>
                    <a:pt x="6917" y="1107332"/>
                  </a:lnTo>
                  <a:lnTo>
                    <a:pt x="1006" y="1091307"/>
                  </a:lnTo>
                  <a:lnTo>
                    <a:pt x="335" y="1087933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37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Strings</a:t>
            </a:r>
            <a:r>
              <a:rPr spc="-35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spc="-10" dirty="0"/>
              <a:t>Scanner</a:t>
            </a:r>
          </a:p>
        </p:txBody>
      </p:sp>
      <p:sp>
        <p:nvSpPr>
          <p:cNvPr id="6" name="object 6"/>
          <p:cNvSpPr/>
          <p:nvPr/>
        </p:nvSpPr>
        <p:spPr>
          <a:xfrm>
            <a:off x="1495424" y="4800599"/>
            <a:ext cx="1600200" cy="371475"/>
          </a:xfrm>
          <a:custGeom>
            <a:avLst/>
            <a:gdLst/>
            <a:ahLst/>
            <a:cxnLst/>
            <a:rect l="l" t="t" r="r" b="b"/>
            <a:pathLst>
              <a:path w="1600200" h="371475">
                <a:moveTo>
                  <a:pt x="1546802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1546802" y="0"/>
                </a:lnTo>
                <a:lnTo>
                  <a:pt x="1586114" y="19391"/>
                </a:lnTo>
                <a:lnTo>
                  <a:pt x="1600199" y="53397"/>
                </a:lnTo>
                <a:lnTo>
                  <a:pt x="1600199" y="318077"/>
                </a:lnTo>
                <a:lnTo>
                  <a:pt x="1580807" y="357389"/>
                </a:lnTo>
                <a:lnTo>
                  <a:pt x="1550518" y="371108"/>
                </a:lnTo>
                <a:lnTo>
                  <a:pt x="1546802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5012" y="2130425"/>
            <a:ext cx="10604500" cy="34239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Two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ways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Strings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Scanner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ts val="2160"/>
              </a:lnSpc>
              <a:spcBef>
                <a:spcPts val="267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Scanner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scan =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new </a:t>
            </a:r>
            <a:r>
              <a:rPr sz="1850" spc="-10" dirty="0">
                <a:solidFill>
                  <a:srgbClr val="D1A7FF"/>
                </a:solidFill>
                <a:latin typeface="Consolas"/>
                <a:cs typeface="Consolas"/>
              </a:rPr>
              <a:t>Scanner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(System.in);</a:t>
            </a:r>
            <a:endParaRPr sz="1850">
              <a:latin typeface="Consolas"/>
              <a:cs typeface="Consolas"/>
            </a:endParaRPr>
          </a:p>
          <a:p>
            <a:pPr marL="179070" marR="992505">
              <a:lnSpc>
                <a:spcPts val="2180"/>
              </a:lnSpc>
              <a:spcBef>
                <a:spcPts val="4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String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input1 =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scan.next();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will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read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in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next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word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up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to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a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space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String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input2 =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scan.nextLine();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will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read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in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all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words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up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to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new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9098A1"/>
                </a:solidFill>
                <a:latin typeface="Consolas"/>
                <a:cs typeface="Consolas"/>
              </a:rPr>
              <a:t>line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Clearing</a:t>
            </a:r>
            <a:r>
              <a:rPr sz="2800" spc="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input</a:t>
            </a:r>
            <a:endParaRPr sz="2800">
              <a:latin typeface="Segoe UI Semibold"/>
              <a:cs typeface="Segoe UI Semibold"/>
            </a:endParaRPr>
          </a:p>
          <a:p>
            <a:pPr marL="12700" marR="5080">
              <a:lnSpc>
                <a:spcPct val="127899"/>
              </a:lnSpc>
              <a:spcBef>
                <a:spcPts val="167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105" dirty="0">
                <a:solidFill>
                  <a:srgbClr val="F0F5FB"/>
                </a:solidFill>
                <a:latin typeface="Segoe UI"/>
                <a:cs typeface="Segoe UI"/>
              </a:rPr>
              <a:t> 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.nextLine()</a:t>
            </a:r>
            <a:r>
              <a:rPr sz="1850" spc="3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that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does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not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save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clear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out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your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Scanner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when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getting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multiple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types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input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238499"/>
            <a:ext cx="10696575" cy="2762250"/>
            <a:chOff x="752474" y="3238499"/>
            <a:chExt cx="10696575" cy="2762250"/>
          </a:xfrm>
        </p:grpSpPr>
        <p:sp>
          <p:nvSpPr>
            <p:cNvPr id="3" name="object 3"/>
            <p:cNvSpPr/>
            <p:nvPr/>
          </p:nvSpPr>
          <p:spPr>
            <a:xfrm>
              <a:off x="757237" y="3243262"/>
              <a:ext cx="10687050" cy="2752725"/>
            </a:xfrm>
            <a:custGeom>
              <a:avLst/>
              <a:gdLst/>
              <a:ahLst/>
              <a:cxnLst/>
              <a:rect l="l" t="t" r="r" b="b"/>
              <a:pathLst>
                <a:path w="10687050" h="2752725">
                  <a:moveTo>
                    <a:pt x="10638100" y="2752724"/>
                  </a:moveTo>
                  <a:lnTo>
                    <a:pt x="48947" y="2752724"/>
                  </a:lnTo>
                  <a:lnTo>
                    <a:pt x="45540" y="2752388"/>
                  </a:lnTo>
                  <a:lnTo>
                    <a:pt x="10739" y="2732302"/>
                  </a:lnTo>
                  <a:lnTo>
                    <a:pt x="0" y="2703777"/>
                  </a:lnTo>
                  <a:lnTo>
                    <a:pt x="0" y="27003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703777"/>
                  </a:lnTo>
                  <a:lnTo>
                    <a:pt x="10669272" y="2739812"/>
                  </a:lnTo>
                  <a:lnTo>
                    <a:pt x="10641507" y="2752388"/>
                  </a:lnTo>
                  <a:lnTo>
                    <a:pt x="10638100" y="275272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243262"/>
              <a:ext cx="10687050" cy="2752725"/>
            </a:xfrm>
            <a:custGeom>
              <a:avLst/>
              <a:gdLst/>
              <a:ahLst/>
              <a:cxnLst/>
              <a:rect l="l" t="t" r="r" b="b"/>
              <a:pathLst>
                <a:path w="10687050" h="2752725">
                  <a:moveTo>
                    <a:pt x="0" y="27003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700337"/>
                  </a:lnTo>
                  <a:lnTo>
                    <a:pt x="10687049" y="2703777"/>
                  </a:lnTo>
                  <a:lnTo>
                    <a:pt x="10686713" y="2707183"/>
                  </a:lnTo>
                  <a:lnTo>
                    <a:pt x="10666625" y="2741984"/>
                  </a:lnTo>
                  <a:lnTo>
                    <a:pt x="10634661" y="2752724"/>
                  </a:lnTo>
                  <a:lnTo>
                    <a:pt x="52387" y="2752724"/>
                  </a:lnTo>
                  <a:lnTo>
                    <a:pt x="15343" y="2737380"/>
                  </a:lnTo>
                  <a:lnTo>
                    <a:pt x="12911" y="2734949"/>
                  </a:lnTo>
                  <a:lnTo>
                    <a:pt x="10739" y="2732302"/>
                  </a:lnTo>
                  <a:lnTo>
                    <a:pt x="8828" y="2729442"/>
                  </a:lnTo>
                  <a:lnTo>
                    <a:pt x="6917" y="2726582"/>
                  </a:lnTo>
                  <a:lnTo>
                    <a:pt x="0" y="2703777"/>
                  </a:lnTo>
                  <a:lnTo>
                    <a:pt x="0" y="270033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859789"/>
            <a:ext cx="3415029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Practice</a:t>
            </a:r>
            <a:r>
              <a:rPr spc="3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6" name="object 6"/>
          <p:cNvSpPr/>
          <p:nvPr/>
        </p:nvSpPr>
        <p:spPr>
          <a:xfrm>
            <a:off x="2057399" y="2152649"/>
            <a:ext cx="962025" cy="371475"/>
          </a:xfrm>
          <a:custGeom>
            <a:avLst/>
            <a:gdLst/>
            <a:ahLst/>
            <a:cxnLst/>
            <a:rect l="l" t="t" r="r" b="b"/>
            <a:pathLst>
              <a:path w="962025" h="371475">
                <a:moveTo>
                  <a:pt x="90862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908627" y="0"/>
                </a:lnTo>
                <a:lnTo>
                  <a:pt x="947939" y="19392"/>
                </a:lnTo>
                <a:lnTo>
                  <a:pt x="962024" y="53397"/>
                </a:lnTo>
                <a:lnTo>
                  <a:pt x="962024" y="318077"/>
                </a:lnTo>
                <a:lnTo>
                  <a:pt x="942632" y="357389"/>
                </a:lnTo>
                <a:lnTo>
                  <a:pt x="912343" y="371108"/>
                </a:lnTo>
                <a:lnTo>
                  <a:pt x="9086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05448" y="2152649"/>
            <a:ext cx="838200" cy="371475"/>
          </a:xfrm>
          <a:custGeom>
            <a:avLst/>
            <a:gdLst/>
            <a:ahLst/>
            <a:cxnLst/>
            <a:rect l="l" t="t" r="r" b="b"/>
            <a:pathLst>
              <a:path w="838200" h="371475">
                <a:moveTo>
                  <a:pt x="784802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784802" y="0"/>
                </a:lnTo>
                <a:lnTo>
                  <a:pt x="824114" y="19392"/>
                </a:lnTo>
                <a:lnTo>
                  <a:pt x="838199" y="53397"/>
                </a:lnTo>
                <a:lnTo>
                  <a:pt x="838199" y="318077"/>
                </a:lnTo>
                <a:lnTo>
                  <a:pt x="818807" y="357389"/>
                </a:lnTo>
                <a:lnTo>
                  <a:pt x="788518" y="371108"/>
                </a:lnTo>
                <a:lnTo>
                  <a:pt x="784802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5012" y="1623694"/>
            <a:ext cx="9977120" cy="42550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Write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program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print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formatted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movie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ticket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receipt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at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theater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where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adult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tickets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95" dirty="0">
                <a:solidFill>
                  <a:srgbClr val="F0F5FB"/>
                </a:solidFill>
                <a:latin typeface="Segoe UI"/>
                <a:cs typeface="Segoe UI"/>
              </a:rPr>
              <a:t> 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$10.99</a:t>
            </a:r>
            <a:r>
              <a:rPr sz="1850" spc="3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kids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tickets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95" dirty="0">
                <a:solidFill>
                  <a:srgbClr val="F0F5FB"/>
                </a:solidFill>
                <a:latin typeface="Segoe UI"/>
                <a:cs typeface="Segoe UI"/>
              </a:rPr>
              <a:t> 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$6.99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Example</a:t>
            </a:r>
            <a:r>
              <a:rPr sz="2150" spc="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Run</a:t>
            </a:r>
            <a:endParaRPr sz="2150" dirty="0">
              <a:latin typeface="Segoe UI"/>
              <a:cs typeface="Segoe UI"/>
            </a:endParaRPr>
          </a:p>
          <a:p>
            <a:pPr marL="179070">
              <a:lnSpc>
                <a:spcPts val="2160"/>
              </a:lnSpc>
              <a:spcBef>
                <a:spcPts val="25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Enter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your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name: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i="1" spc="-25" dirty="0">
                <a:solidFill>
                  <a:schemeClr val="accent3"/>
                </a:solidFill>
                <a:latin typeface="Consolas"/>
                <a:cs typeface="Consolas"/>
              </a:rPr>
              <a:t>Bob</a:t>
            </a:r>
            <a:endParaRPr sz="1850" i="1" dirty="0">
              <a:solidFill>
                <a:schemeClr val="accent3"/>
              </a:solidFill>
              <a:latin typeface="Consolas"/>
              <a:cs typeface="Consolas"/>
            </a:endParaRPr>
          </a:p>
          <a:p>
            <a:pPr marL="179070" marR="5529580">
              <a:lnSpc>
                <a:spcPts val="2180"/>
              </a:lnSpc>
              <a:spcBef>
                <a:spcPts val="4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Enter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your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movie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name: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i="1" dirty="0">
                <a:solidFill>
                  <a:schemeClr val="accent3"/>
                </a:solidFill>
                <a:latin typeface="Consolas"/>
                <a:cs typeface="Consolas"/>
              </a:rPr>
              <a:t>Spider-</a:t>
            </a:r>
            <a:r>
              <a:rPr sz="1850" i="1" spc="-25" dirty="0">
                <a:solidFill>
                  <a:schemeClr val="accent3"/>
                </a:solidFill>
                <a:latin typeface="Consolas"/>
                <a:cs typeface="Consolas"/>
              </a:rPr>
              <a:t>Man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How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many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adult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tickets: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i="1" spc="-50" dirty="0">
                <a:solidFill>
                  <a:schemeClr val="accent3"/>
                </a:solidFill>
                <a:latin typeface="Consolas"/>
                <a:cs typeface="Consolas"/>
              </a:rPr>
              <a:t>2</a:t>
            </a:r>
            <a:endParaRPr sz="1850" i="1" dirty="0">
              <a:solidFill>
                <a:schemeClr val="accent3"/>
              </a:solidFill>
              <a:latin typeface="Consolas"/>
              <a:cs typeface="Consolas"/>
            </a:endParaRPr>
          </a:p>
          <a:p>
            <a:pPr marL="179070">
              <a:lnSpc>
                <a:spcPts val="197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How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many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kids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tickets: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i="1" spc="-50" dirty="0">
                <a:solidFill>
                  <a:schemeClr val="accent3"/>
                </a:solidFill>
                <a:latin typeface="Consolas"/>
                <a:cs typeface="Consolas"/>
              </a:rPr>
              <a:t>2</a:t>
            </a:r>
            <a:endParaRPr sz="1850" i="1" dirty="0">
              <a:solidFill>
                <a:schemeClr val="accent3"/>
              </a:solidFill>
              <a:latin typeface="Consolas"/>
              <a:cs typeface="Consolas"/>
            </a:endParaRPr>
          </a:p>
          <a:p>
            <a:pPr marL="179070" marR="7465695">
              <a:lnSpc>
                <a:spcPts val="2180"/>
              </a:lnSpc>
              <a:spcBef>
                <a:spcPts val="4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Your</a:t>
            </a:r>
            <a:r>
              <a:rPr sz="1850" spc="-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receipt: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Spider-Man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---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Bob</a:t>
            </a:r>
            <a:endParaRPr sz="1850" dirty="0">
              <a:latin typeface="Consolas"/>
              <a:cs typeface="Consolas"/>
            </a:endParaRPr>
          </a:p>
          <a:p>
            <a:pPr marL="179070">
              <a:lnSpc>
                <a:spcPts val="197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Adult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Tickets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x2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$21.98</a:t>
            </a:r>
            <a:endParaRPr sz="1850" dirty="0">
              <a:latin typeface="Consolas"/>
              <a:cs typeface="Consolas"/>
            </a:endParaRPr>
          </a:p>
          <a:p>
            <a:pPr marL="179070" marR="6691630">
              <a:lnSpc>
                <a:spcPts val="2180"/>
              </a:lnSpc>
              <a:spcBef>
                <a:spcPts val="4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Kids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Tickets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x2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$13.98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Total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$35.96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489</Words>
  <Application>Microsoft Office PowerPoint</Application>
  <PresentationFormat>Widescreen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Consolas</vt:lpstr>
      <vt:lpstr>Segoe UI</vt:lpstr>
      <vt:lpstr>Segoe UI Semibold</vt:lpstr>
      <vt:lpstr>Office Theme</vt:lpstr>
      <vt:lpstr>CPS 150 Review Session #2</vt:lpstr>
      <vt:lpstr>Review Activity</vt:lpstr>
      <vt:lpstr>Type Casting</vt:lpstr>
      <vt:lpstr>Important Use of Type Casting</vt:lpstr>
      <vt:lpstr>Characters</vt:lpstr>
      <vt:lpstr>Strings</vt:lpstr>
      <vt:lpstr>String Methods</vt:lpstr>
      <vt:lpstr>Strings with Scanner</vt:lpstr>
      <vt:lpstr>Practice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CPS 150 Review Session #2</dc:title>
  <cp:lastModifiedBy>Colin Kremer</cp:lastModifiedBy>
  <cp:revision>1</cp:revision>
  <dcterms:created xsi:type="dcterms:W3CDTF">2026-09-08T17:27:10Z</dcterms:created>
  <dcterms:modified xsi:type="dcterms:W3CDTF">2026-09-08T17:28:09Z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2026-09-08T00:00:00Z</vt:filetime>
  </property>
  <property fmtid="{D5CDD505-2E9C-101B-9397-08002B2CF9AE}" pid="4" name="Creator">
    <vt:lpwstr>Created by Marp</vt:lpwstr>
  </property>
  <property fmtid="{D5CDD505-2E9C-101B-9397-08002B2CF9AE}" pid="5" name="LastSaved">
    <vt:filetime>2026-09-08T00:00:00Z</vt:filetime>
  </property>
  <property fmtid="{D5CDD505-2E9C-101B-9397-08002B2CF9AE}" pid="6" name="Producer">
    <vt:lpwstr>Created by Marp</vt:lpwstr>
  </property>
</Properties>
</file>